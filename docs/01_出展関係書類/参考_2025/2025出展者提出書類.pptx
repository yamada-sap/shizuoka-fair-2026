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6858000" cy="9906000"/>
  <p:notesSz cx="6858000" cy="9906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ヒラギノ明朝 ProN W3"/>
                <a:cs typeface="ヒラギノ明朝 ProN W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5396" y="3311271"/>
            <a:ext cx="6289040" cy="660400"/>
          </a:xfrm>
          <a:custGeom>
            <a:avLst/>
            <a:gdLst/>
            <a:ahLst/>
            <a:cxnLst/>
            <a:rect l="l" t="t" r="r" b="b"/>
            <a:pathLst>
              <a:path w="6289040" h="660400">
                <a:moveTo>
                  <a:pt x="6178715" y="0"/>
                </a:moveTo>
                <a:lnTo>
                  <a:pt x="109994" y="0"/>
                </a:lnTo>
                <a:lnTo>
                  <a:pt x="67181" y="8647"/>
                </a:lnTo>
                <a:lnTo>
                  <a:pt x="32218" y="32226"/>
                </a:lnTo>
                <a:lnTo>
                  <a:pt x="8644" y="67186"/>
                </a:lnTo>
                <a:lnTo>
                  <a:pt x="0" y="109981"/>
                </a:lnTo>
                <a:lnTo>
                  <a:pt x="0" y="550037"/>
                </a:lnTo>
                <a:lnTo>
                  <a:pt x="8644" y="592832"/>
                </a:lnTo>
                <a:lnTo>
                  <a:pt x="32218" y="627792"/>
                </a:lnTo>
                <a:lnTo>
                  <a:pt x="67181" y="651371"/>
                </a:lnTo>
                <a:lnTo>
                  <a:pt x="109994" y="660018"/>
                </a:lnTo>
                <a:lnTo>
                  <a:pt x="6178715" y="660018"/>
                </a:lnTo>
                <a:lnTo>
                  <a:pt x="6221510" y="651371"/>
                </a:lnTo>
                <a:lnTo>
                  <a:pt x="6256470" y="627792"/>
                </a:lnTo>
                <a:lnTo>
                  <a:pt x="6280049" y="592832"/>
                </a:lnTo>
                <a:lnTo>
                  <a:pt x="6288697" y="550037"/>
                </a:lnTo>
                <a:lnTo>
                  <a:pt x="6288697" y="109981"/>
                </a:lnTo>
                <a:lnTo>
                  <a:pt x="6280049" y="67186"/>
                </a:lnTo>
                <a:lnTo>
                  <a:pt x="6256470" y="32226"/>
                </a:lnTo>
                <a:lnTo>
                  <a:pt x="6221510" y="8647"/>
                </a:lnTo>
                <a:lnTo>
                  <a:pt x="61787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ヒラギノ明朝 ProN W3"/>
                <a:cs typeface="ヒラギノ明朝 ProN W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ヒラギノ明朝 ProN W3"/>
                <a:cs typeface="ヒラギノ明朝 ProN W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4290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53187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ヒラギノ明朝 ProN W3"/>
                <a:cs typeface="ヒラギノ明朝 ProN W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5661" y="3397757"/>
            <a:ext cx="2150110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ヒラギノ明朝 ProN W3"/>
                <a:cs typeface="ヒラギノ明朝 ProN W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331720" y="9212580"/>
            <a:ext cx="219456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4290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93776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f-shizuoka2025@aap-jim.com" TargetMode="External"/><Relationship Id="rId3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sf-shizuoka2025@aap-jim.com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hyperlink" Target="mailto:sf-shizuoka2025@aap-jim.com" TargetMode="External"/><Relationship Id="rId9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hyperlink" Target="mailto:sf-shizuoka2025@aap-jim.com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hyperlink" Target="mailto:sf-shizuoka2025@aap-jim.com" TargetMode="External"/><Relationship Id="rId4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4"/>
              <a:t>ご提出シート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844" y="4174616"/>
            <a:ext cx="5582920" cy="547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60">
                <a:latin typeface="ヒラギノ明朝 ProN W3"/>
                <a:cs typeface="ヒラギノ明朝 ProN W3"/>
              </a:rPr>
              <a:t>下記の該当するシートに必要事項をご記入の上、</a:t>
            </a:r>
            <a:endParaRPr sz="1400">
              <a:latin typeface="ヒラギノ明朝 ProN W3"/>
              <a:cs typeface="ヒラギノ明朝 ProN W3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000">
                <a:latin typeface="ヒラギノ明朝 ProN W3"/>
                <a:cs typeface="ヒラギノ明朝 ProN W3"/>
              </a:rPr>
              <a:t>締切日</a:t>
            </a:r>
            <a:r>
              <a:rPr dirty="0" sz="1400" spc="-215">
                <a:latin typeface="ヒラギノ明朝 ProN W3"/>
                <a:cs typeface="ヒラギノ明朝 ProN W3"/>
              </a:rPr>
              <a:t>までに</a:t>
            </a:r>
            <a:r>
              <a:rPr dirty="0" sz="2000" spc="-580">
                <a:latin typeface="ヒラギノ明朝 ProN W3"/>
                <a:cs typeface="ヒラギノ明朝 ProN W3"/>
              </a:rPr>
              <a:t>ＦＡＸ、Ｅ－ｍａｉｌ</a:t>
            </a:r>
            <a:r>
              <a:rPr dirty="0" sz="2000" spc="-345">
                <a:latin typeface="ヒラギノ明朝 ProN W3"/>
                <a:cs typeface="ヒラギノ明朝 ProN W3"/>
              </a:rPr>
              <a:t>または郵送</a:t>
            </a:r>
            <a:r>
              <a:rPr dirty="0" sz="1400" spc="-285">
                <a:latin typeface="ヒラギノ明朝 ProN W3"/>
                <a:cs typeface="ヒラギノ明朝 ProN W3"/>
              </a:rPr>
              <a:t>にてご提出ください。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8513" y="5304282"/>
            <a:ext cx="15100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4">
                <a:latin typeface="ヒラギノ明朝 ProN W3"/>
                <a:cs typeface="ヒラギノ明朝 ProN W3"/>
              </a:rPr>
              <a:t>１．出展内容確認書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8513" y="5670041"/>
            <a:ext cx="15100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4">
                <a:latin typeface="ヒラギノ明朝 ProN W3"/>
                <a:cs typeface="ヒラギノ明朝 ProN W3"/>
              </a:rPr>
              <a:t>２．追加備品申込書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8513" y="6035801"/>
            <a:ext cx="25768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80">
                <a:latin typeface="ヒラギノ明朝 ProN W3"/>
                <a:cs typeface="ヒラギノ明朝 ProN W3"/>
              </a:rPr>
              <a:t>３．電気・火気・危険物使用申請書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8513" y="6401561"/>
            <a:ext cx="23272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40">
                <a:latin typeface="ヒラギノ明朝 ProN W3"/>
                <a:cs typeface="ヒラギノ明朝 ProN W3"/>
              </a:rPr>
              <a:t>４．</a:t>
            </a:r>
            <a:r>
              <a:rPr dirty="0" sz="1400" spc="-140">
                <a:latin typeface="Arial"/>
                <a:cs typeface="Arial"/>
              </a:rPr>
              <a:t>Instagram</a:t>
            </a:r>
            <a:r>
              <a:rPr dirty="0" sz="1400" spc="-105">
                <a:latin typeface="ヒラギノ明朝 ProN W3"/>
                <a:cs typeface="ヒラギノ明朝 ProN W3"/>
              </a:rPr>
              <a:t>掲載入力フォーム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8513" y="6767017"/>
            <a:ext cx="17094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20">
                <a:latin typeface="ヒラギノ明朝 ProN W3"/>
                <a:cs typeface="ヒラギノ明朝 ProN W3"/>
              </a:rPr>
              <a:t>５．ご協賛品確認シート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4350" y="7851267"/>
            <a:ext cx="5962015" cy="1872614"/>
          </a:xfrm>
          <a:custGeom>
            <a:avLst/>
            <a:gdLst/>
            <a:ahLst/>
            <a:cxnLst/>
            <a:rect l="l" t="t" r="r" b="b"/>
            <a:pathLst>
              <a:path w="5962015" h="1872615">
                <a:moveTo>
                  <a:pt x="0" y="312038"/>
                </a:moveTo>
                <a:lnTo>
                  <a:pt x="3383" y="265927"/>
                </a:lnTo>
                <a:lnTo>
                  <a:pt x="13211" y="221916"/>
                </a:lnTo>
                <a:lnTo>
                  <a:pt x="29000" y="180489"/>
                </a:lnTo>
                <a:lnTo>
                  <a:pt x="50270" y="142128"/>
                </a:lnTo>
                <a:lnTo>
                  <a:pt x="76536" y="107316"/>
                </a:lnTo>
                <a:lnTo>
                  <a:pt x="107316" y="76536"/>
                </a:lnTo>
                <a:lnTo>
                  <a:pt x="142128" y="50270"/>
                </a:lnTo>
                <a:lnTo>
                  <a:pt x="180489" y="29000"/>
                </a:lnTo>
                <a:lnTo>
                  <a:pt x="221916" y="13211"/>
                </a:lnTo>
                <a:lnTo>
                  <a:pt x="265927" y="3383"/>
                </a:lnTo>
                <a:lnTo>
                  <a:pt x="312038" y="0"/>
                </a:lnTo>
                <a:lnTo>
                  <a:pt x="5649849" y="0"/>
                </a:lnTo>
                <a:lnTo>
                  <a:pt x="5695960" y="3383"/>
                </a:lnTo>
                <a:lnTo>
                  <a:pt x="5739971" y="13211"/>
                </a:lnTo>
                <a:lnTo>
                  <a:pt x="5781398" y="29000"/>
                </a:lnTo>
                <a:lnTo>
                  <a:pt x="5819759" y="50270"/>
                </a:lnTo>
                <a:lnTo>
                  <a:pt x="5854571" y="76536"/>
                </a:lnTo>
                <a:lnTo>
                  <a:pt x="5885351" y="107316"/>
                </a:lnTo>
                <a:lnTo>
                  <a:pt x="5911617" y="142128"/>
                </a:lnTo>
                <a:lnTo>
                  <a:pt x="5932887" y="180489"/>
                </a:lnTo>
                <a:lnTo>
                  <a:pt x="5948676" y="221916"/>
                </a:lnTo>
                <a:lnTo>
                  <a:pt x="5958504" y="265927"/>
                </a:lnTo>
                <a:lnTo>
                  <a:pt x="5961888" y="312038"/>
                </a:lnTo>
                <a:lnTo>
                  <a:pt x="5961888" y="1560131"/>
                </a:lnTo>
                <a:lnTo>
                  <a:pt x="5958504" y="1606240"/>
                </a:lnTo>
                <a:lnTo>
                  <a:pt x="5948676" y="1650249"/>
                </a:lnTo>
                <a:lnTo>
                  <a:pt x="5932887" y="1691675"/>
                </a:lnTo>
                <a:lnTo>
                  <a:pt x="5911617" y="1730036"/>
                </a:lnTo>
                <a:lnTo>
                  <a:pt x="5885351" y="1764848"/>
                </a:lnTo>
                <a:lnTo>
                  <a:pt x="5854571" y="1795629"/>
                </a:lnTo>
                <a:lnTo>
                  <a:pt x="5819759" y="1821897"/>
                </a:lnTo>
                <a:lnTo>
                  <a:pt x="5781398" y="1843167"/>
                </a:lnTo>
                <a:lnTo>
                  <a:pt x="5739971" y="1858958"/>
                </a:lnTo>
                <a:lnTo>
                  <a:pt x="5695960" y="1868787"/>
                </a:lnTo>
                <a:lnTo>
                  <a:pt x="5649849" y="1872170"/>
                </a:lnTo>
                <a:lnTo>
                  <a:pt x="312038" y="1872170"/>
                </a:lnTo>
                <a:lnTo>
                  <a:pt x="265927" y="1868787"/>
                </a:lnTo>
                <a:lnTo>
                  <a:pt x="221916" y="1858958"/>
                </a:lnTo>
                <a:lnTo>
                  <a:pt x="180489" y="1843167"/>
                </a:lnTo>
                <a:lnTo>
                  <a:pt x="142128" y="1821897"/>
                </a:lnTo>
                <a:lnTo>
                  <a:pt x="107316" y="1795629"/>
                </a:lnTo>
                <a:lnTo>
                  <a:pt x="76536" y="1764848"/>
                </a:lnTo>
                <a:lnTo>
                  <a:pt x="50270" y="1730036"/>
                </a:lnTo>
                <a:lnTo>
                  <a:pt x="29000" y="1691675"/>
                </a:lnTo>
                <a:lnTo>
                  <a:pt x="13211" y="1650249"/>
                </a:lnTo>
                <a:lnTo>
                  <a:pt x="3383" y="1606240"/>
                </a:lnTo>
                <a:lnTo>
                  <a:pt x="0" y="1560131"/>
                </a:lnTo>
                <a:lnTo>
                  <a:pt x="0" y="312038"/>
                </a:lnTo>
                <a:close/>
              </a:path>
            </a:pathLst>
          </a:custGeom>
          <a:ln w="25400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59966" y="8000492"/>
            <a:ext cx="3339465" cy="157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100"/>
              </a:spcBef>
            </a:pPr>
            <a:r>
              <a:rPr dirty="0" sz="1400" spc="-90">
                <a:latin typeface="ヒラギノ明朝 ProN W3"/>
                <a:cs typeface="ヒラギノ明朝 ProN W3"/>
              </a:rPr>
              <a:t>■■■ シート提出先 ■■■</a:t>
            </a:r>
            <a:endParaRPr sz="1400">
              <a:latin typeface="ヒラギノ明朝 ProN W3"/>
              <a:cs typeface="ヒラギノ明朝 ProN W3"/>
            </a:endParaRPr>
          </a:p>
          <a:p>
            <a:pPr algn="ctr" marL="42545" marR="35560">
              <a:lnSpc>
                <a:spcPct val="100000"/>
              </a:lnSpc>
              <a:spcBef>
                <a:spcPts val="1555"/>
              </a:spcBef>
            </a:pPr>
            <a:r>
              <a:rPr dirty="0" sz="1400" spc="-145">
                <a:latin typeface="ヒラギノ明朝 ProN W3"/>
                <a:cs typeface="ヒラギノ明朝 ProN W3"/>
              </a:rPr>
              <a:t>企画運営担当 ： ㈱エイエイピー 杉山・蜂屋</a:t>
            </a:r>
            <a:r>
              <a:rPr dirty="0" sz="1400" spc="-50">
                <a:latin typeface="ヒラギノ明朝 ProN W3"/>
                <a:cs typeface="ヒラギノ明朝 ProN W3"/>
              </a:rPr>
              <a:t> </a:t>
            </a:r>
            <a:r>
              <a:rPr dirty="0" sz="1400" spc="-445">
                <a:latin typeface="ヒラギノ明朝 ProN W3"/>
                <a:cs typeface="ヒラギノ明朝 ProN W3"/>
              </a:rPr>
              <a:t>ＴＥＬ：０５４－２８４－６３３３</a:t>
            </a:r>
            <a:endParaRPr sz="1400">
              <a:latin typeface="ヒラギノ明朝 ProN W3"/>
              <a:cs typeface="ヒラギノ明朝 ProN W3"/>
            </a:endParaRPr>
          </a:p>
          <a:p>
            <a:pPr algn="ctr">
              <a:lnSpc>
                <a:spcPct val="100000"/>
              </a:lnSpc>
            </a:pPr>
            <a:r>
              <a:rPr dirty="0" sz="1400" spc="-434">
                <a:latin typeface="ヒラギノ明朝 ProN W3"/>
                <a:cs typeface="ヒラギノ明朝 ProN W3"/>
              </a:rPr>
              <a:t>ＦＡＸ：０５４－２８４－６３３０</a:t>
            </a:r>
            <a:endParaRPr sz="1400">
              <a:latin typeface="ヒラギノ明朝 ProN W3"/>
              <a:cs typeface="ヒラギノ明朝 ProN W3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sz="1400" spc="-430">
                <a:latin typeface="ヒラギノ明朝 ProN W3"/>
                <a:cs typeface="ヒラギノ明朝 ProN W3"/>
              </a:rPr>
              <a:t>Ｅｍａｉｌ：</a:t>
            </a:r>
            <a:r>
              <a:rPr dirty="0" sz="1400" spc="-430">
                <a:latin typeface="Arial"/>
                <a:cs typeface="Arial"/>
                <a:hlinkClick r:id="rId2"/>
              </a:rPr>
              <a:t>sf-</a:t>
            </a:r>
            <a:r>
              <a:rPr dirty="0" sz="1400" spc="-45">
                <a:latin typeface="Arial"/>
                <a:cs typeface="Arial"/>
                <a:hlinkClick r:id="rId2"/>
              </a:rPr>
              <a:t>shizuoka2025@aap-</a:t>
            </a:r>
            <a:r>
              <a:rPr dirty="0" sz="1400" spc="-10">
                <a:latin typeface="Arial"/>
                <a:cs typeface="Arial"/>
                <a:hlinkClick r:id="rId2"/>
              </a:rPr>
              <a:t>jim.com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sz="1400" spc="-210">
                <a:latin typeface="ヒラギノ明朝 ProN W3"/>
                <a:cs typeface="ヒラギノ明朝 ProN W3"/>
              </a:rPr>
              <a:t>〒４２２－８０６１  静岡市駿河区森下町３－６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56892" y="5351271"/>
            <a:ext cx="219710" cy="1287780"/>
          </a:xfrm>
          <a:custGeom>
            <a:avLst/>
            <a:gdLst/>
            <a:ahLst/>
            <a:cxnLst/>
            <a:rect l="l" t="t" r="r" b="b"/>
            <a:pathLst>
              <a:path w="219710" h="1287779">
                <a:moveTo>
                  <a:pt x="219582" y="1287652"/>
                </a:moveTo>
                <a:lnTo>
                  <a:pt x="176861" y="1286206"/>
                </a:lnTo>
                <a:lnTo>
                  <a:pt x="141938" y="1282271"/>
                </a:lnTo>
                <a:lnTo>
                  <a:pt x="118373" y="1276455"/>
                </a:lnTo>
                <a:lnTo>
                  <a:pt x="109727" y="1269364"/>
                </a:lnTo>
                <a:lnTo>
                  <a:pt x="109727" y="662177"/>
                </a:lnTo>
                <a:lnTo>
                  <a:pt x="101101" y="655034"/>
                </a:lnTo>
                <a:lnTo>
                  <a:pt x="77581" y="649224"/>
                </a:lnTo>
                <a:lnTo>
                  <a:pt x="42701" y="645318"/>
                </a:lnTo>
                <a:lnTo>
                  <a:pt x="0" y="643889"/>
                </a:lnTo>
                <a:lnTo>
                  <a:pt x="42701" y="642441"/>
                </a:lnTo>
                <a:lnTo>
                  <a:pt x="77581" y="638492"/>
                </a:lnTo>
                <a:lnTo>
                  <a:pt x="101101" y="632638"/>
                </a:lnTo>
                <a:lnTo>
                  <a:pt x="109727" y="625475"/>
                </a:lnTo>
                <a:lnTo>
                  <a:pt x="109727" y="18287"/>
                </a:lnTo>
                <a:lnTo>
                  <a:pt x="118373" y="11197"/>
                </a:lnTo>
                <a:lnTo>
                  <a:pt x="141938" y="5381"/>
                </a:lnTo>
                <a:lnTo>
                  <a:pt x="176861" y="1446"/>
                </a:lnTo>
                <a:lnTo>
                  <a:pt x="219582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0426" y="5722365"/>
            <a:ext cx="1143635" cy="48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ヒラギノ明朝 ProN W3"/>
                <a:cs typeface="ヒラギノ明朝 ProN W3"/>
              </a:rPr>
              <a:t>提出締切日</a:t>
            </a:r>
            <a:endParaRPr sz="1200">
              <a:latin typeface="ヒラギノ明朝 ProN W3"/>
              <a:cs typeface="ヒラギノ明朝 ProN W3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800" spc="-270">
                <a:latin typeface="ヒラギノ明朝 ProN W3"/>
                <a:cs typeface="ヒラギノ明朝 ProN W3"/>
              </a:rPr>
              <a:t>１０</a:t>
            </a:r>
            <a:r>
              <a:rPr dirty="0" sz="1800" spc="-270">
                <a:latin typeface="Arial"/>
                <a:cs typeface="Arial"/>
              </a:rPr>
              <a:t>/</a:t>
            </a:r>
            <a:r>
              <a:rPr dirty="0" sz="1800" spc="-270">
                <a:latin typeface="ヒラギノ明朝 ProN W3"/>
                <a:cs typeface="ヒラギノ明朝 ProN W3"/>
              </a:rPr>
              <a:t>８（</a:t>
            </a:r>
            <a:r>
              <a:rPr dirty="0" sz="1800" spc="-615">
                <a:latin typeface="ヒラギノ明朝 ProN W3"/>
                <a:cs typeface="ヒラギノ明朝 ProN W3"/>
              </a:rPr>
              <a:t>水</a:t>
            </a:r>
            <a:r>
              <a:rPr dirty="0" sz="1800" spc="-665">
                <a:latin typeface="ヒラギノ明朝 ProN W3"/>
                <a:cs typeface="ヒラギノ明朝 ProN W3"/>
              </a:rPr>
              <a:t>）</a:t>
            </a:r>
            <a:endParaRPr sz="1800">
              <a:latin typeface="ヒラギノ明朝 ProN W3"/>
              <a:cs typeface="ヒラギノ明朝 ProN W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426" y="6547231"/>
            <a:ext cx="1315085" cy="4864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ヒラギノ明朝 ProN W3"/>
                <a:cs typeface="ヒラギノ明朝 ProN W3"/>
              </a:rPr>
              <a:t>提出締切日</a:t>
            </a:r>
            <a:endParaRPr sz="1200">
              <a:latin typeface="ヒラギノ明朝 ProN W3"/>
              <a:cs typeface="ヒラギノ明朝 ProN W3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800" spc="-295">
                <a:latin typeface="ヒラギノ明朝 ProN W3"/>
                <a:cs typeface="ヒラギノ明朝 ProN W3"/>
              </a:rPr>
              <a:t>１１</a:t>
            </a:r>
            <a:r>
              <a:rPr dirty="0" sz="1800" spc="-295">
                <a:latin typeface="Arial"/>
                <a:cs typeface="Arial"/>
              </a:rPr>
              <a:t>/</a:t>
            </a:r>
            <a:r>
              <a:rPr dirty="0" sz="1800" spc="-295">
                <a:latin typeface="ヒラギノ明朝 ProN W3"/>
                <a:cs typeface="ヒラギノ明朝 ProN W3"/>
              </a:rPr>
              <a:t>１２（</a:t>
            </a:r>
            <a:r>
              <a:rPr dirty="0" sz="1800" spc="-615">
                <a:latin typeface="ヒラギノ明朝 ProN W3"/>
                <a:cs typeface="ヒラギノ明朝 ProN W3"/>
              </a:rPr>
              <a:t>水</a:t>
            </a:r>
            <a:r>
              <a:rPr dirty="0" sz="1800" spc="-665">
                <a:latin typeface="ヒラギノ明朝 ProN W3"/>
                <a:cs typeface="ヒラギノ明朝 ProN W3"/>
              </a:rPr>
              <a:t>）</a:t>
            </a:r>
            <a:endParaRPr sz="1800">
              <a:latin typeface="ヒラギノ明朝 ProN W3"/>
              <a:cs typeface="ヒラギノ明朝 ProN W3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91709" y="5334990"/>
            <a:ext cx="1402715" cy="221615"/>
            <a:chOff x="5291709" y="5334990"/>
            <a:chExt cx="1402715" cy="221615"/>
          </a:xfrm>
        </p:grpSpPr>
        <p:sp>
          <p:nvSpPr>
            <p:cNvPr id="15" name="object 15"/>
            <p:cNvSpPr/>
            <p:nvPr/>
          </p:nvSpPr>
          <p:spPr>
            <a:xfrm>
              <a:off x="5304409" y="5347690"/>
              <a:ext cx="1377315" cy="196215"/>
            </a:xfrm>
            <a:custGeom>
              <a:avLst/>
              <a:gdLst/>
              <a:ahLst/>
              <a:cxnLst/>
              <a:rect l="l" t="t" r="r" b="b"/>
              <a:pathLst>
                <a:path w="1377315" h="196214">
                  <a:moveTo>
                    <a:pt x="1377188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1377188" y="196113"/>
                  </a:lnTo>
                  <a:lnTo>
                    <a:pt x="1377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04409" y="5347690"/>
              <a:ext cx="1377315" cy="196215"/>
            </a:xfrm>
            <a:custGeom>
              <a:avLst/>
              <a:gdLst/>
              <a:ahLst/>
              <a:cxnLst/>
              <a:rect l="l" t="t" r="r" b="b"/>
              <a:pathLst>
                <a:path w="1377315" h="196214">
                  <a:moveTo>
                    <a:pt x="0" y="196113"/>
                  </a:moveTo>
                  <a:lnTo>
                    <a:pt x="1377188" y="196113"/>
                  </a:lnTo>
                  <a:lnTo>
                    <a:pt x="1377188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317109" y="5356986"/>
            <a:ext cx="13519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105"/>
              </a:spcBef>
            </a:pPr>
            <a:r>
              <a:rPr dirty="0" sz="1050" spc="-15">
                <a:solidFill>
                  <a:srgbClr val="FFFFFF"/>
                </a:solidFill>
                <a:latin typeface="ヒラギノ明朝 ProN W3"/>
                <a:cs typeface="ヒラギノ明朝 ProN W3"/>
              </a:rPr>
              <a:t>全出展者</a:t>
            </a:r>
            <a:endParaRPr sz="1050">
              <a:latin typeface="ヒラギノ明朝 ProN W3"/>
              <a:cs typeface="ヒラギノ明朝 ProN W3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91709" y="5695924"/>
            <a:ext cx="1402715" cy="221615"/>
            <a:chOff x="5291709" y="5695924"/>
            <a:chExt cx="1402715" cy="221615"/>
          </a:xfrm>
        </p:grpSpPr>
        <p:sp>
          <p:nvSpPr>
            <p:cNvPr id="19" name="object 19"/>
            <p:cNvSpPr/>
            <p:nvPr/>
          </p:nvSpPr>
          <p:spPr>
            <a:xfrm>
              <a:off x="5304409" y="5708624"/>
              <a:ext cx="1377315" cy="196215"/>
            </a:xfrm>
            <a:custGeom>
              <a:avLst/>
              <a:gdLst/>
              <a:ahLst/>
              <a:cxnLst/>
              <a:rect l="l" t="t" r="r" b="b"/>
              <a:pathLst>
                <a:path w="1377315" h="196214">
                  <a:moveTo>
                    <a:pt x="1377188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1377188" y="196113"/>
                  </a:lnTo>
                  <a:lnTo>
                    <a:pt x="1377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04409" y="5708624"/>
              <a:ext cx="1377315" cy="196215"/>
            </a:xfrm>
            <a:custGeom>
              <a:avLst/>
              <a:gdLst/>
              <a:ahLst/>
              <a:cxnLst/>
              <a:rect l="l" t="t" r="r" b="b"/>
              <a:pathLst>
                <a:path w="1377315" h="196214">
                  <a:moveTo>
                    <a:pt x="0" y="196113"/>
                  </a:moveTo>
                  <a:lnTo>
                    <a:pt x="1377188" y="196113"/>
                  </a:lnTo>
                  <a:lnTo>
                    <a:pt x="1377188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17109" y="5718175"/>
            <a:ext cx="13519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105"/>
              </a:spcBef>
            </a:pPr>
            <a:r>
              <a:rPr dirty="0" sz="1050" spc="-15">
                <a:solidFill>
                  <a:srgbClr val="FFFFFF"/>
                </a:solidFill>
                <a:latin typeface="ヒラギノ明朝 ProN W3"/>
                <a:cs typeface="ヒラギノ明朝 ProN W3"/>
              </a:rPr>
              <a:t>全出展者</a:t>
            </a:r>
            <a:endParaRPr sz="1050">
              <a:latin typeface="ヒラギノ明朝 ProN W3"/>
              <a:cs typeface="ヒラギノ明朝 ProN W3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91709" y="6056985"/>
            <a:ext cx="1402715" cy="221615"/>
            <a:chOff x="5291709" y="6056985"/>
            <a:chExt cx="1402715" cy="221615"/>
          </a:xfrm>
        </p:grpSpPr>
        <p:sp>
          <p:nvSpPr>
            <p:cNvPr id="23" name="object 23"/>
            <p:cNvSpPr/>
            <p:nvPr/>
          </p:nvSpPr>
          <p:spPr>
            <a:xfrm>
              <a:off x="5304409" y="6069685"/>
              <a:ext cx="1377315" cy="196215"/>
            </a:xfrm>
            <a:custGeom>
              <a:avLst/>
              <a:gdLst/>
              <a:ahLst/>
              <a:cxnLst/>
              <a:rect l="l" t="t" r="r" b="b"/>
              <a:pathLst>
                <a:path w="1377315" h="196214">
                  <a:moveTo>
                    <a:pt x="1377188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1377188" y="196113"/>
                  </a:lnTo>
                  <a:lnTo>
                    <a:pt x="1377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304409" y="6069685"/>
              <a:ext cx="1377315" cy="196215"/>
            </a:xfrm>
            <a:custGeom>
              <a:avLst/>
              <a:gdLst/>
              <a:ahLst/>
              <a:cxnLst/>
              <a:rect l="l" t="t" r="r" b="b"/>
              <a:pathLst>
                <a:path w="1377315" h="196214">
                  <a:moveTo>
                    <a:pt x="0" y="196113"/>
                  </a:moveTo>
                  <a:lnTo>
                    <a:pt x="1377188" y="196113"/>
                  </a:lnTo>
                  <a:lnTo>
                    <a:pt x="1377188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317109" y="6078982"/>
            <a:ext cx="13519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105"/>
              </a:spcBef>
            </a:pPr>
            <a:r>
              <a:rPr dirty="0" sz="1050" spc="-15">
                <a:solidFill>
                  <a:srgbClr val="FFFFFF"/>
                </a:solidFill>
                <a:latin typeface="ヒラギノ明朝 ProN W3"/>
                <a:cs typeface="ヒラギノ明朝 ProN W3"/>
              </a:rPr>
              <a:t>全出展者</a:t>
            </a:r>
            <a:endParaRPr sz="1050">
              <a:latin typeface="ヒラギノ明朝 ProN W3"/>
              <a:cs typeface="ヒラギノ明朝 ProN W3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04409" y="6791553"/>
            <a:ext cx="1377315" cy="1962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215"/>
              </a:spcBef>
            </a:pPr>
            <a:r>
              <a:rPr dirty="0" sz="1000" spc="-70">
                <a:latin typeface="ヒラギノ明朝 ProN W3"/>
                <a:cs typeface="ヒラギノ明朝 ProN W3"/>
              </a:rPr>
              <a:t>ご協力いただける出展者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04409" y="6419570"/>
            <a:ext cx="1377315" cy="1962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2860" rIns="0" bIns="0" rtlCol="0" vert="horz">
            <a:spAutoFit/>
          </a:bodyPr>
          <a:lstStyle/>
          <a:p>
            <a:pPr marL="360680">
              <a:lnSpc>
                <a:spcPct val="100000"/>
              </a:lnSpc>
              <a:spcBef>
                <a:spcPts val="180"/>
              </a:spcBef>
            </a:pPr>
            <a:r>
              <a:rPr dirty="0" sz="1050" spc="-35">
                <a:latin typeface="ヒラギノ明朝 ProN W3"/>
                <a:cs typeface="ヒラギノ明朝 ProN W3"/>
              </a:rPr>
              <a:t>希望者のみ</a:t>
            </a:r>
            <a:endParaRPr sz="1050">
              <a:latin typeface="ヒラギノ明朝 ProN W3"/>
              <a:cs typeface="ヒラギノ明朝 ProN W3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087" y="491573"/>
            <a:ext cx="4693809" cy="2219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360045"/>
          </a:xfrm>
          <a:custGeom>
            <a:avLst/>
            <a:gdLst/>
            <a:ahLst/>
            <a:cxnLst/>
            <a:rect l="l" t="t" r="r" b="b"/>
            <a:pathLst>
              <a:path w="6858000" h="360045">
                <a:moveTo>
                  <a:pt x="6858000" y="0"/>
                </a:moveTo>
                <a:lnTo>
                  <a:pt x="0" y="0"/>
                </a:lnTo>
                <a:lnTo>
                  <a:pt x="0" y="360045"/>
                </a:lnTo>
                <a:lnTo>
                  <a:pt x="6858000" y="360045"/>
                </a:lnTo>
                <a:lnTo>
                  <a:pt x="685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6173" y="65277"/>
            <a:ext cx="5699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solidFill>
                  <a:srgbClr val="FFFFFF"/>
                </a:solidFill>
                <a:latin typeface="ヒラギノ明朝 ProN W3"/>
                <a:cs typeface="ヒラギノ明朝 ProN W3"/>
              </a:rPr>
              <a:t>【書類提出先】  </a:t>
            </a:r>
            <a:r>
              <a:rPr dirty="0" sz="1400" spc="-250">
                <a:solidFill>
                  <a:srgbClr val="FFFFFF"/>
                </a:solidFill>
                <a:latin typeface="ヒラギノ明朝 ProN W3"/>
                <a:cs typeface="ヒラギノ明朝 ProN W3"/>
              </a:rPr>
              <a:t>㈱エイエイピー 担当：杉山•蜂屋 ＦＡＸ：０５４－２８４－６３３０</a:t>
            </a:r>
            <a:endParaRPr sz="14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9824" y="1550098"/>
          <a:ext cx="6474460" cy="2757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1405"/>
                <a:gridCol w="2183130"/>
                <a:gridCol w="943610"/>
                <a:gridCol w="962660"/>
                <a:gridCol w="1197610"/>
              </a:tblGrid>
              <a:tr h="407670"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60">
                          <a:latin typeface="ヒラギノ明朝 ProN W3"/>
                          <a:cs typeface="ヒラギノ明朝 ProN W3"/>
                        </a:rPr>
                        <a:t>出展ゾーン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200" spc="-5">
                          <a:latin typeface="ヒラギノ明朝 ProN W3"/>
                          <a:cs typeface="ヒラギノ明朝 ProN W3"/>
                        </a:rPr>
                        <a:t>地場産業</a:t>
                      </a:r>
                      <a:r>
                        <a:rPr dirty="0" sz="1200" spc="254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 spc="-65">
                          <a:latin typeface="ヒラギノ明朝 ProN W3"/>
                          <a:cs typeface="ヒラギノ明朝 ProN W3"/>
                        </a:rPr>
                        <a:t>観光 ・ 企業 ・ 物産ストリート</a:t>
                      </a:r>
                      <a:endParaRPr sz="12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ts val="1310"/>
                        </a:lnSpc>
                        <a:spcBef>
                          <a:spcPts val="445"/>
                        </a:spcBef>
                      </a:pPr>
                      <a:r>
                        <a:rPr dirty="0" sz="1100" spc="-1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出展番号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  <a:p>
                      <a:pPr marL="137795">
                        <a:lnSpc>
                          <a:spcPts val="1070"/>
                        </a:lnSpc>
                      </a:pPr>
                      <a:r>
                        <a:rPr dirty="0" sz="900" spc="-44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9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主催者記入</a:t>
                      </a:r>
                      <a:r>
                        <a:rPr dirty="0" sz="900" spc="-5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6515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100" spc="-90">
                          <a:latin typeface="ヒラギノ明朝 ProN W3"/>
                          <a:cs typeface="ヒラギノ明朝 ProN W3"/>
                        </a:rPr>
                        <a:t>団体名・社名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0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7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所属部署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担当者名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1315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ヒラギノ明朝 ProN W3"/>
                          <a:cs typeface="ヒラギノ明朝 ProN W3"/>
                        </a:rPr>
                        <a:t>住所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  <a:p>
                      <a:pPr marL="91440">
                        <a:lnSpc>
                          <a:spcPts val="955"/>
                        </a:lnSpc>
                      </a:pPr>
                      <a:r>
                        <a:rPr dirty="0" sz="800" spc="-10">
                          <a:latin typeface="ヒラギノ明朝 ProN W3"/>
                          <a:cs typeface="ヒラギノ明朝 ProN W3"/>
                        </a:rPr>
                        <a:t>※書類送付先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90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100" spc="-50">
                          <a:latin typeface="ヒラギノ明朝 ProN W3"/>
                          <a:cs typeface="ヒラギノ明朝 ProN W3"/>
                        </a:rPr>
                        <a:t>〒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136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7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390">
                          <a:latin typeface="ヒラギノ明朝 ProN W3"/>
                          <a:cs typeface="ヒラギノ明朝 ProN W3"/>
                        </a:rPr>
                        <a:t>ＴＥＬ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350">
                          <a:latin typeface="ヒラギノ明朝 ProN W3"/>
                          <a:cs typeface="ヒラギノ明朝 ProN W3"/>
                        </a:rPr>
                        <a:t>ＦＡＸ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7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475">
                          <a:latin typeface="ヒラギノ明朝 ProN W3"/>
                          <a:cs typeface="ヒラギノ明朝 ProN W3"/>
                        </a:rPr>
                        <a:t>Ｅ－ｍａｉｌ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携帯電話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091308" y="555498"/>
            <a:ext cx="797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75">
                <a:latin typeface="ヒラギノ明朝 ProN W3"/>
                <a:cs typeface="ヒラギノ明朝 ProN W3"/>
              </a:rPr>
              <a:t>提出書類 【１】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5025" y="804798"/>
            <a:ext cx="18072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ヒラギノ明朝 ProN W3"/>
                <a:cs typeface="ヒラギノ明朝 ProN W3"/>
              </a:rPr>
              <a:t>出展内容確認書</a:t>
            </a:r>
            <a:endParaRPr sz="2000">
              <a:latin typeface="ヒラギノ明朝 ProN W3"/>
              <a:cs typeface="ヒラギノ明朝 ProN W3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61278" y="475526"/>
            <a:ext cx="1080135" cy="817880"/>
          </a:xfrm>
          <a:custGeom>
            <a:avLst/>
            <a:gdLst/>
            <a:ahLst/>
            <a:cxnLst/>
            <a:rect l="l" t="t" r="r" b="b"/>
            <a:pathLst>
              <a:path w="1080134" h="817880">
                <a:moveTo>
                  <a:pt x="1080122" y="0"/>
                </a:moveTo>
                <a:lnTo>
                  <a:pt x="0" y="0"/>
                </a:lnTo>
                <a:lnTo>
                  <a:pt x="0" y="817841"/>
                </a:lnTo>
                <a:lnTo>
                  <a:pt x="1080122" y="817841"/>
                </a:lnTo>
                <a:lnTo>
                  <a:pt x="10801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773673" y="842593"/>
            <a:ext cx="857250" cy="3740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664"/>
              </a:lnSpc>
              <a:spcBef>
                <a:spcPts val="105"/>
              </a:spcBef>
            </a:pP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10/</a:t>
            </a:r>
            <a:r>
              <a:rPr dirty="0" sz="1400" spc="-35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８（</a:t>
            </a:r>
            <a:r>
              <a:rPr dirty="0" sz="1400" spc="-434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水</a:t>
            </a:r>
            <a:r>
              <a:rPr dirty="0" sz="1400" spc="-484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）</a:t>
            </a:r>
            <a:endParaRPr sz="1400">
              <a:latin typeface="ヒラギノ明朝 ProN W6"/>
              <a:cs typeface="ヒラギノ明朝 ProN W6"/>
            </a:endParaRPr>
          </a:p>
          <a:p>
            <a:pPr algn="ctr" marL="635">
              <a:lnSpc>
                <a:spcPts val="1065"/>
              </a:lnSpc>
            </a:pPr>
            <a:r>
              <a:rPr dirty="0" sz="900" spc="-15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提出期限</a:t>
            </a:r>
            <a:endParaRPr sz="900">
              <a:latin typeface="ヒラギノ明朝 ProN W6"/>
              <a:cs typeface="ヒラギノ明朝 ProN W6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97728" y="544931"/>
            <a:ext cx="1007744" cy="221615"/>
            <a:chOff x="5697728" y="544931"/>
            <a:chExt cx="1007744" cy="221615"/>
          </a:xfrm>
        </p:grpSpPr>
        <p:sp>
          <p:nvSpPr>
            <p:cNvPr id="10" name="object 10"/>
            <p:cNvSpPr/>
            <p:nvPr/>
          </p:nvSpPr>
          <p:spPr>
            <a:xfrm>
              <a:off x="5710428" y="557631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981849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981849" y="196113"/>
                  </a:lnTo>
                  <a:lnTo>
                    <a:pt x="98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10428" y="557631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0" y="196113"/>
                  </a:moveTo>
                  <a:lnTo>
                    <a:pt x="981849" y="196113"/>
                  </a:lnTo>
                  <a:lnTo>
                    <a:pt x="981849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710428" y="557631"/>
            <a:ext cx="982344" cy="1962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223520">
              <a:lnSpc>
                <a:spcPct val="100000"/>
              </a:lnSpc>
              <a:spcBef>
                <a:spcPts val="170"/>
              </a:spcBef>
            </a:pPr>
            <a:r>
              <a:rPr dirty="0" sz="1050" spc="-15">
                <a:latin typeface="ヒラギノ明朝 ProN W3"/>
                <a:cs typeface="ヒラギノ明朝 ProN W3"/>
              </a:rPr>
              <a:t>全出展者</a:t>
            </a:r>
            <a:endParaRPr sz="1050">
              <a:latin typeface="ヒラギノ明朝 ProN W3"/>
              <a:cs typeface="ヒラギノ明朝 ProN W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24325" y="483158"/>
            <a:ext cx="1537335" cy="806450"/>
          </a:xfrm>
          <a:custGeom>
            <a:avLst/>
            <a:gdLst/>
            <a:ahLst/>
            <a:cxnLst/>
            <a:rect l="l" t="t" r="r" b="b"/>
            <a:pathLst>
              <a:path w="1537335" h="806450">
                <a:moveTo>
                  <a:pt x="0" y="806399"/>
                </a:moveTo>
                <a:lnTo>
                  <a:pt x="1536953" y="806399"/>
                </a:lnTo>
                <a:lnTo>
                  <a:pt x="1536953" y="0"/>
                </a:lnTo>
                <a:lnTo>
                  <a:pt x="0" y="0"/>
                </a:lnTo>
                <a:lnTo>
                  <a:pt x="0" y="8063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133850" y="540766"/>
            <a:ext cx="1518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3709" marR="150495" indent="-312420">
              <a:lnSpc>
                <a:spcPct val="100000"/>
              </a:lnSpc>
              <a:spcBef>
                <a:spcPts val="100"/>
              </a:spcBef>
            </a:pPr>
            <a:r>
              <a:rPr dirty="0" sz="900" spc="-125">
                <a:latin typeface="ヒラギノ明朝 ProN W3"/>
                <a:cs typeface="ヒラギノ明朝 ProN W3"/>
              </a:rPr>
              <a:t>産業フェアしずおか</a:t>
            </a:r>
            <a:r>
              <a:rPr dirty="0" sz="900" spc="40">
                <a:latin typeface="Arial"/>
                <a:cs typeface="Arial"/>
              </a:rPr>
              <a:t>2025</a:t>
            </a:r>
            <a:r>
              <a:rPr dirty="0" sz="900" spc="-10">
                <a:latin typeface="ヒラギノ明朝 ProN W3"/>
                <a:cs typeface="ヒラギノ明朝 ProN W3"/>
              </a:rPr>
              <a:t>出展事務局</a:t>
            </a:r>
            <a:endParaRPr sz="900">
              <a:latin typeface="ヒラギノ明朝 ProN W3"/>
              <a:cs typeface="ヒラギノ明朝 ProN W3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3850" y="885824"/>
            <a:ext cx="15182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ts val="955"/>
              </a:lnSpc>
              <a:spcBef>
                <a:spcPts val="100"/>
              </a:spcBef>
            </a:pPr>
            <a:r>
              <a:rPr dirty="0" sz="800" spc="-125">
                <a:latin typeface="ヒラギノ明朝 ProN W3"/>
                <a:cs typeface="ヒラギノ明朝 ProN W3"/>
              </a:rPr>
              <a:t>㈱エイエイピー：杉山•蜂屋</a:t>
            </a:r>
            <a:endParaRPr sz="800">
              <a:latin typeface="ヒラギノ明朝 ProN W3"/>
              <a:cs typeface="ヒラギノ明朝 ProN W3"/>
            </a:endParaRPr>
          </a:p>
          <a:p>
            <a:pPr algn="ctr" marL="1905">
              <a:lnSpc>
                <a:spcPts val="835"/>
              </a:lnSpc>
            </a:pPr>
            <a:r>
              <a:rPr dirty="0" sz="700" spc="-90">
                <a:latin typeface="ヒラギノ明朝 ProN W3"/>
                <a:cs typeface="ヒラギノ明朝 ProN W3"/>
              </a:rPr>
              <a:t>ＦＡＸ：</a:t>
            </a:r>
            <a:r>
              <a:rPr dirty="0" sz="700" spc="-90">
                <a:latin typeface="Arial"/>
                <a:cs typeface="Arial"/>
              </a:rPr>
              <a:t>054-</a:t>
            </a:r>
            <a:r>
              <a:rPr dirty="0" sz="700" spc="70">
                <a:latin typeface="Arial"/>
                <a:cs typeface="Arial"/>
              </a:rPr>
              <a:t>284-</a:t>
            </a:r>
            <a:r>
              <a:rPr dirty="0" sz="700" spc="-20">
                <a:latin typeface="Arial"/>
                <a:cs typeface="Arial"/>
              </a:rPr>
              <a:t>6330</a:t>
            </a:r>
            <a:endParaRPr sz="7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700" spc="60">
                <a:latin typeface="Arial"/>
                <a:cs typeface="Arial"/>
                <a:hlinkClick r:id="rId2"/>
              </a:rPr>
              <a:t>sf-</a:t>
            </a:r>
            <a:r>
              <a:rPr dirty="0" sz="700" spc="-10">
                <a:latin typeface="Arial"/>
                <a:cs typeface="Arial"/>
                <a:hlinkClick r:id="rId2"/>
              </a:rPr>
              <a:t>shizuoka2025@aap-jim.com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33850" y="859155"/>
            <a:ext cx="1487805" cy="0"/>
          </a:xfrm>
          <a:custGeom>
            <a:avLst/>
            <a:gdLst/>
            <a:ahLst/>
            <a:cxnLst/>
            <a:rect l="l" t="t" r="r" b="b"/>
            <a:pathLst>
              <a:path w="1487804" h="0">
                <a:moveTo>
                  <a:pt x="0" y="0"/>
                </a:moveTo>
                <a:lnTo>
                  <a:pt x="148780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59511" y="4884165"/>
          <a:ext cx="6452235" cy="116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1405"/>
                <a:gridCol w="4007485"/>
                <a:gridCol w="1279525"/>
              </a:tblGrid>
              <a:tr h="3746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100" spc="-10">
                          <a:latin typeface="ヒラギノ明朝 ProN W3"/>
                          <a:cs typeface="ヒラギノ明朝 ProN W3"/>
                        </a:rPr>
                        <a:t>社名板表示名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100" spc="-60">
                          <a:latin typeface="ヒラギノ明朝 ProN W3"/>
                          <a:cs typeface="ヒラギノ明朝 ProN W3"/>
                        </a:rPr>
                        <a:t>出展ブース小間数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789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出展内容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562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8318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ヒラギノ明朝 ProN W3"/>
                          <a:cs typeface="ヒラギノ明朝 ProN W3"/>
                        </a:rPr>
                        <a:t>小間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562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4544695"/>
            <a:ext cx="216001" cy="21602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5965" y="4545584"/>
            <a:ext cx="849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１  </a:t>
            </a:r>
            <a:r>
              <a:rPr dirty="0" sz="1200" spc="-15">
                <a:latin typeface="ヒラギノ明朝 ProN W3"/>
                <a:cs typeface="ヒラギノ明朝 ProN W3"/>
              </a:rPr>
              <a:t>出展概要</a:t>
            </a:r>
            <a:endParaRPr sz="1200">
              <a:latin typeface="ヒラギノ明朝 ProN W3"/>
              <a:cs typeface="ヒラギノ明朝 ProN W3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361" y="6221095"/>
            <a:ext cx="216001" cy="21602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97865" y="6222238"/>
            <a:ext cx="849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２  </a:t>
            </a:r>
            <a:r>
              <a:rPr dirty="0" sz="1200" spc="-15">
                <a:latin typeface="ヒラギノ明朝 ProN W3"/>
                <a:cs typeface="ヒラギノ明朝 ProN W3"/>
              </a:rPr>
              <a:t>申請関係</a:t>
            </a:r>
            <a:endParaRPr sz="1200">
              <a:latin typeface="ヒラギノ明朝 ProN W3"/>
              <a:cs typeface="ヒラギノ明朝 ProN W3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62350" y="7165175"/>
            <a:ext cx="1165860" cy="777875"/>
            <a:chOff x="3562350" y="7165175"/>
            <a:chExt cx="1165860" cy="777875"/>
          </a:xfrm>
        </p:grpSpPr>
        <p:sp>
          <p:nvSpPr>
            <p:cNvPr id="23" name="object 23"/>
            <p:cNvSpPr/>
            <p:nvPr/>
          </p:nvSpPr>
          <p:spPr>
            <a:xfrm>
              <a:off x="3562350" y="7165175"/>
              <a:ext cx="1165860" cy="777875"/>
            </a:xfrm>
            <a:custGeom>
              <a:avLst/>
              <a:gdLst/>
              <a:ahLst/>
              <a:cxnLst/>
              <a:rect l="l" t="t" r="r" b="b"/>
              <a:pathLst>
                <a:path w="1165860" h="777875">
                  <a:moveTo>
                    <a:pt x="1165694" y="0"/>
                  </a:moveTo>
                  <a:lnTo>
                    <a:pt x="0" y="0"/>
                  </a:lnTo>
                  <a:lnTo>
                    <a:pt x="0" y="777278"/>
                  </a:lnTo>
                  <a:lnTo>
                    <a:pt x="1165694" y="777278"/>
                  </a:lnTo>
                  <a:lnTo>
                    <a:pt x="11656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80968" y="7513066"/>
              <a:ext cx="967740" cy="374015"/>
            </a:xfrm>
            <a:custGeom>
              <a:avLst/>
              <a:gdLst/>
              <a:ahLst/>
              <a:cxnLst/>
              <a:rect l="l" t="t" r="r" b="b"/>
              <a:pathLst>
                <a:path w="967739" h="374015">
                  <a:moveTo>
                    <a:pt x="905129" y="0"/>
                  </a:moveTo>
                  <a:lnTo>
                    <a:pt x="62230" y="0"/>
                  </a:lnTo>
                  <a:lnTo>
                    <a:pt x="37986" y="4903"/>
                  </a:lnTo>
                  <a:lnTo>
                    <a:pt x="18208" y="18272"/>
                  </a:lnTo>
                  <a:lnTo>
                    <a:pt x="4883" y="38094"/>
                  </a:lnTo>
                  <a:lnTo>
                    <a:pt x="0" y="62356"/>
                  </a:lnTo>
                  <a:lnTo>
                    <a:pt x="0" y="311403"/>
                  </a:lnTo>
                  <a:lnTo>
                    <a:pt x="4883" y="335593"/>
                  </a:lnTo>
                  <a:lnTo>
                    <a:pt x="18208" y="355377"/>
                  </a:lnTo>
                  <a:lnTo>
                    <a:pt x="37986" y="368732"/>
                  </a:lnTo>
                  <a:lnTo>
                    <a:pt x="62230" y="373633"/>
                  </a:lnTo>
                  <a:lnTo>
                    <a:pt x="905129" y="373633"/>
                  </a:lnTo>
                  <a:lnTo>
                    <a:pt x="929318" y="368732"/>
                  </a:lnTo>
                  <a:lnTo>
                    <a:pt x="949102" y="355377"/>
                  </a:lnTo>
                  <a:lnTo>
                    <a:pt x="962457" y="335593"/>
                  </a:lnTo>
                  <a:lnTo>
                    <a:pt x="967359" y="311403"/>
                  </a:lnTo>
                  <a:lnTo>
                    <a:pt x="967359" y="62356"/>
                  </a:lnTo>
                  <a:lnTo>
                    <a:pt x="962457" y="38094"/>
                  </a:lnTo>
                  <a:lnTo>
                    <a:pt x="949102" y="18272"/>
                  </a:lnTo>
                  <a:lnTo>
                    <a:pt x="929318" y="4903"/>
                  </a:lnTo>
                  <a:lnTo>
                    <a:pt x="905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72211" y="7942415"/>
            <a:ext cx="1073785" cy="1405255"/>
            <a:chOff x="372211" y="7942415"/>
            <a:chExt cx="1073785" cy="1405255"/>
          </a:xfrm>
        </p:grpSpPr>
        <p:sp>
          <p:nvSpPr>
            <p:cNvPr id="26" name="object 26"/>
            <p:cNvSpPr/>
            <p:nvPr/>
          </p:nvSpPr>
          <p:spPr>
            <a:xfrm>
              <a:off x="372211" y="7942415"/>
              <a:ext cx="1073785" cy="1405255"/>
            </a:xfrm>
            <a:custGeom>
              <a:avLst/>
              <a:gdLst/>
              <a:ahLst/>
              <a:cxnLst/>
              <a:rect l="l" t="t" r="r" b="b"/>
              <a:pathLst>
                <a:path w="1073785" h="1405254">
                  <a:moveTo>
                    <a:pt x="1073315" y="0"/>
                  </a:moveTo>
                  <a:lnTo>
                    <a:pt x="0" y="0"/>
                  </a:lnTo>
                  <a:lnTo>
                    <a:pt x="0" y="1405001"/>
                  </a:lnTo>
                  <a:lnTo>
                    <a:pt x="1073315" y="1405001"/>
                  </a:lnTo>
                  <a:lnTo>
                    <a:pt x="107331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9575" y="8669337"/>
              <a:ext cx="967740" cy="374015"/>
            </a:xfrm>
            <a:custGeom>
              <a:avLst/>
              <a:gdLst/>
              <a:ahLst/>
              <a:cxnLst/>
              <a:rect l="l" t="t" r="r" b="b"/>
              <a:pathLst>
                <a:path w="967740" h="374015">
                  <a:moveTo>
                    <a:pt x="905129" y="0"/>
                  </a:moveTo>
                  <a:lnTo>
                    <a:pt x="62268" y="0"/>
                  </a:lnTo>
                  <a:lnTo>
                    <a:pt x="38029" y="4893"/>
                  </a:lnTo>
                  <a:lnTo>
                    <a:pt x="18237" y="18237"/>
                  </a:lnTo>
                  <a:lnTo>
                    <a:pt x="4893" y="38029"/>
                  </a:lnTo>
                  <a:lnTo>
                    <a:pt x="0" y="62268"/>
                  </a:lnTo>
                  <a:lnTo>
                    <a:pt x="0" y="311327"/>
                  </a:lnTo>
                  <a:lnTo>
                    <a:pt x="4893" y="335560"/>
                  </a:lnTo>
                  <a:lnTo>
                    <a:pt x="18237" y="355353"/>
                  </a:lnTo>
                  <a:lnTo>
                    <a:pt x="38029" y="368701"/>
                  </a:lnTo>
                  <a:lnTo>
                    <a:pt x="62268" y="373595"/>
                  </a:lnTo>
                  <a:lnTo>
                    <a:pt x="905129" y="373595"/>
                  </a:lnTo>
                  <a:lnTo>
                    <a:pt x="929372" y="368701"/>
                  </a:lnTo>
                  <a:lnTo>
                    <a:pt x="949150" y="355353"/>
                  </a:lnTo>
                  <a:lnTo>
                    <a:pt x="962475" y="335560"/>
                  </a:lnTo>
                  <a:lnTo>
                    <a:pt x="967359" y="311327"/>
                  </a:lnTo>
                  <a:lnTo>
                    <a:pt x="967359" y="62268"/>
                  </a:lnTo>
                  <a:lnTo>
                    <a:pt x="962475" y="38029"/>
                  </a:lnTo>
                  <a:lnTo>
                    <a:pt x="949150" y="18237"/>
                  </a:lnTo>
                  <a:lnTo>
                    <a:pt x="929372" y="4893"/>
                  </a:lnTo>
                  <a:lnTo>
                    <a:pt x="905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69036" y="6531991"/>
          <a:ext cx="6452235" cy="28098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/>
                <a:gridCol w="617855"/>
                <a:gridCol w="1499234"/>
                <a:gridCol w="533400"/>
                <a:gridCol w="632460"/>
                <a:gridCol w="577214"/>
                <a:gridCol w="717550"/>
                <a:gridCol w="717550"/>
              </a:tblGrid>
              <a:tr h="3149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75">
                          <a:latin typeface="ヒラギノ明朝 ProN W3"/>
                          <a:cs typeface="ヒラギノ明朝 ProN W3"/>
                        </a:rPr>
                        <a:t>ブース責任者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762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100" spc="75">
                          <a:latin typeface="Arial"/>
                          <a:cs typeface="Arial"/>
                        </a:rPr>
                        <a:t>11/29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dirty="0" sz="1100" spc="-375">
                          <a:latin typeface="ヒラギノ明朝 ProN W3"/>
                          <a:cs typeface="ヒラギノ明朝 ProN W3"/>
                        </a:rPr>
                        <a:t>（土</a:t>
                      </a:r>
                      <a:r>
                        <a:rPr dirty="0" sz="1100" spc="-425"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530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275">
                          <a:latin typeface="ヒラギノ明朝 ProN W3"/>
                          <a:cs typeface="ヒラギノ明朝 ProN W3"/>
                        </a:rPr>
                        <a:t>【氏名】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86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100" spc="75">
                          <a:latin typeface="Arial"/>
                          <a:cs typeface="Arial"/>
                        </a:rPr>
                        <a:t>11/30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dirty="0" sz="1100" spc="-375">
                          <a:latin typeface="ヒラギノ明朝 ProN W3"/>
                          <a:cs typeface="ヒラギノ明朝 ProN W3"/>
                        </a:rPr>
                        <a:t>（日</a:t>
                      </a:r>
                      <a:r>
                        <a:rPr dirty="0" sz="1100" spc="-425"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530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275">
                          <a:latin typeface="ヒラギノ明朝 ProN W3"/>
                          <a:cs typeface="ヒラギノ明朝 ProN W3"/>
                        </a:rPr>
                        <a:t>【氏名】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86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49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62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30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275">
                          <a:latin typeface="ヒラギノ明朝 ProN W3"/>
                          <a:cs typeface="ヒラギノ明朝 ProN W3"/>
                        </a:rPr>
                        <a:t>【携帯】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86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30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000" spc="-275">
                          <a:latin typeface="ヒラギノ明朝 ProN W3"/>
                          <a:cs typeface="ヒラギノ明朝 ProN W3"/>
                        </a:rPr>
                        <a:t>【携帯】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86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76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ヒラギノ明朝 ProN W3"/>
                          <a:cs typeface="ヒラギノ明朝 ProN W3"/>
                        </a:rPr>
                        <a:t>出展者パス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50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R="47625">
                        <a:lnSpc>
                          <a:spcPct val="100000"/>
                        </a:lnSpc>
                        <a:tabLst>
                          <a:tab pos="1193165" algn="l"/>
                        </a:tabLst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100">
                          <a:latin typeface="ヒラギノ明朝 ProN W3"/>
                          <a:cs typeface="ヒラギノ明朝 ProN W3"/>
                        </a:rPr>
                        <a:t>日間合</a:t>
                      </a:r>
                      <a:r>
                        <a:rPr dirty="0" sz="1100" spc="-50">
                          <a:latin typeface="ヒラギノ明朝 ProN W3"/>
                          <a:cs typeface="ヒラギノ明朝 ProN W3"/>
                        </a:rPr>
                        <a:t>計</a:t>
                      </a:r>
                      <a:r>
                        <a:rPr dirty="0" sz="1100">
                          <a:latin typeface="ヒラギノ明朝 ProN W3"/>
                          <a:cs typeface="ヒラギノ明朝 ProN W3"/>
                        </a:rPr>
                        <a:t>	</a:t>
                      </a:r>
                      <a:r>
                        <a:rPr dirty="0" sz="1100" spc="-50">
                          <a:latin typeface="ヒラギノ明朝 ProN W3"/>
                          <a:cs typeface="ヒラギノ明朝 ProN W3"/>
                        </a:rPr>
                        <a:t>枚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800" spc="-155">
                          <a:latin typeface="ヒラギノ明朝 ProN W3"/>
                          <a:cs typeface="ヒラギノ明朝 ProN W3"/>
                        </a:rPr>
                        <a:t>※スタッフ全員が２日間、必ず着用してください。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100" spc="-10">
                          <a:latin typeface="ヒラギノ明朝 ProN W3"/>
                          <a:cs typeface="ヒラギノ明朝 ProN W3"/>
                        </a:rPr>
                        <a:t>搬入出許可証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  <a:p>
                      <a:pPr algn="ctr" marL="412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050" spc="-14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１ブースにつき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  <a:p>
                      <a:pPr algn="ctr" marL="38735">
                        <a:lnSpc>
                          <a:spcPct val="100000"/>
                        </a:lnSpc>
                      </a:pPr>
                      <a:r>
                        <a:rPr dirty="0" sz="1050" spc="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50" spc="-5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枚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51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1200" spc="10">
                          <a:latin typeface="ヒラギノ明朝 ProN W3"/>
                          <a:cs typeface="ヒラギノ明朝 ProN W3"/>
                        </a:rPr>
                        <a:t>必要 ・ 不要</a:t>
                      </a:r>
                      <a:endParaRPr sz="1200">
                        <a:latin typeface="ヒラギノ明朝 ProN W3"/>
                        <a:cs typeface="ヒラギノ明朝 ProN W3"/>
                      </a:endParaRPr>
                    </a:p>
                    <a:p>
                      <a:pPr algn="ctr" marR="127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800" spc="-85">
                          <a:latin typeface="ヒラギノ明朝 ProN W3"/>
                          <a:cs typeface="ヒラギノ明朝 ProN W3"/>
                        </a:rPr>
                        <a:t>※許可証のない車は会場内に入れません。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695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067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ヒラギノ明朝 ProN W3"/>
                          <a:cs typeface="ヒラギノ明朝 ProN W3"/>
                        </a:rPr>
                        <a:t>駐車許可証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050" spc="-14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１ブースにつき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  <a:p>
                      <a:pPr algn="ctr" marR="25400">
                        <a:lnSpc>
                          <a:spcPct val="100000"/>
                        </a:lnSpc>
                      </a:pPr>
                      <a:r>
                        <a:rPr dirty="0" sz="1050" spc="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50" spc="-5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枚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64490">
                        <a:lnSpc>
                          <a:spcPct val="100000"/>
                        </a:lnSpc>
                        <a:tabLst>
                          <a:tab pos="955675" algn="l"/>
                          <a:tab pos="1396365" algn="l"/>
                        </a:tabLst>
                      </a:pPr>
                      <a:r>
                        <a:rPr dirty="0" sz="1400" spc="-10">
                          <a:latin typeface="ヒラギノ明朝 ProN W3"/>
                          <a:cs typeface="ヒラギノ明朝 ProN W3"/>
                        </a:rPr>
                        <a:t>必</a:t>
                      </a:r>
                      <a:r>
                        <a:rPr dirty="0" sz="1400" spc="-50">
                          <a:latin typeface="ヒラギノ明朝 ProN W3"/>
                          <a:cs typeface="ヒラギノ明朝 ProN W3"/>
                        </a:rPr>
                        <a:t>要</a:t>
                      </a:r>
                      <a:r>
                        <a:rPr dirty="0" sz="1400">
                          <a:latin typeface="ヒラギノ明朝 ProN W3"/>
                          <a:cs typeface="ヒラギノ明朝 ProN W3"/>
                        </a:rPr>
                        <a:t>	</a:t>
                      </a:r>
                      <a:r>
                        <a:rPr dirty="0" sz="1400" spc="-50">
                          <a:latin typeface="ヒラギノ明朝 ProN W3"/>
                          <a:cs typeface="ヒラギノ明朝 ProN W3"/>
                        </a:rPr>
                        <a:t>•</a:t>
                      </a:r>
                      <a:r>
                        <a:rPr dirty="0" sz="1400">
                          <a:latin typeface="ヒラギノ明朝 ProN W3"/>
                          <a:cs typeface="ヒラギノ明朝 ProN W3"/>
                        </a:rPr>
                        <a:t>	</a:t>
                      </a:r>
                      <a:r>
                        <a:rPr dirty="0" sz="1400" spc="-10">
                          <a:latin typeface="ヒラギノ明朝 ProN W3"/>
                          <a:cs typeface="ヒラギノ明朝 ProN W3"/>
                        </a:rPr>
                        <a:t>不</a:t>
                      </a:r>
                      <a:r>
                        <a:rPr dirty="0" sz="1400" spc="-50">
                          <a:latin typeface="ヒラギノ明朝 ProN W3"/>
                          <a:cs typeface="ヒラギノ明朝 ProN W3"/>
                        </a:rPr>
                        <a:t>要</a:t>
                      </a:r>
                      <a:endParaRPr sz="1400">
                        <a:latin typeface="ヒラギノ明朝 ProN W3"/>
                        <a:cs typeface="ヒラギノ明朝 ProN W3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52425" marR="107314" indent="-234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65">
                          <a:latin typeface="ヒラギノ明朝 ProN W3"/>
                          <a:cs typeface="ヒラギノ明朝 ProN W3"/>
                        </a:rPr>
                        <a:t>※必要な場合は右記の該当する</a:t>
                      </a:r>
                      <a:r>
                        <a:rPr dirty="0" sz="1100" spc="-120">
                          <a:latin typeface="ヒラギノ明朝 ProN W3"/>
                          <a:cs typeface="ヒラギノ明朝 ProN W3"/>
                        </a:rPr>
                        <a:t>車両に○を入れてください</a:t>
                      </a:r>
                      <a:r>
                        <a:rPr dirty="0" sz="900" spc="-360">
                          <a:latin typeface="ヒラギノ明朝 ProN W3"/>
                          <a:cs typeface="ヒラギノ明朝 ProN W3"/>
                        </a:rPr>
                        <a:t>。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100" spc="-25">
                          <a:latin typeface="ヒラギノ明朝 ProN W3"/>
                          <a:cs typeface="ヒラギノ明朝 ProN W3"/>
                        </a:rPr>
                        <a:t>車種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635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29</a:t>
                      </a:r>
                      <a:r>
                        <a:rPr dirty="0" sz="1050">
                          <a:latin typeface="ヒラギノ明朝 ProN W3"/>
                          <a:cs typeface="ヒラギノ明朝 ProN W3"/>
                        </a:rPr>
                        <a:t>日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050">
                          <a:latin typeface="ヒラギノ明朝 ProN W3"/>
                          <a:cs typeface="ヒラギノ明朝 ProN W3"/>
                        </a:rPr>
                        <a:t>土</a:t>
                      </a:r>
                      <a:r>
                        <a:rPr dirty="0" sz="1050" spc="-50">
                          <a:latin typeface="Arial"/>
                          <a:cs typeface="Arial"/>
                        </a:rPr>
                        <a:t>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5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050">
                          <a:latin typeface="ヒラギノ明朝 ProN W3"/>
                          <a:cs typeface="ヒラギノ明朝 ProN W3"/>
                        </a:rPr>
                        <a:t>日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050">
                          <a:latin typeface="ヒラギノ明朝 ProN W3"/>
                          <a:cs typeface="ヒラギノ明朝 ProN W3"/>
                        </a:rPr>
                        <a:t>日</a:t>
                      </a:r>
                      <a:r>
                        <a:rPr dirty="0" sz="1050" spc="-50">
                          <a:latin typeface="Arial"/>
                          <a:cs typeface="Arial"/>
                        </a:rPr>
                        <a:t>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5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100" spc="-190">
                          <a:latin typeface="ヒラギノ明朝 ProN W3"/>
                          <a:cs typeface="ヒラギノ明朝 ProN W3"/>
                        </a:rPr>
                        <a:t>高さ２</a:t>
                      </a:r>
                      <a:r>
                        <a:rPr dirty="0" sz="1100" spc="-260">
                          <a:latin typeface="ヒラギノ明朝 ProN W3"/>
                          <a:cs typeface="ヒラギノ明朝 ProN W3"/>
                        </a:rPr>
                        <a:t>ｍ</a:t>
                      </a:r>
                      <a:r>
                        <a:rPr dirty="0" sz="1100" spc="-30">
                          <a:latin typeface="ヒラギノ明朝 ProN W3"/>
                          <a:cs typeface="ヒラギノ明朝 ProN W3"/>
                        </a:rPr>
                        <a:t>以下の乗用車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628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100" spc="-190">
                          <a:latin typeface="ヒラギノ明朝 ProN W3"/>
                          <a:cs typeface="ヒラギノ明朝 ProN W3"/>
                        </a:rPr>
                        <a:t>高さ２</a:t>
                      </a:r>
                      <a:r>
                        <a:rPr dirty="0" sz="1100" spc="-260">
                          <a:latin typeface="ヒラギノ明朝 ProN W3"/>
                          <a:cs typeface="ヒラギノ明朝 ProN W3"/>
                        </a:rPr>
                        <a:t>ｍ</a:t>
                      </a:r>
                      <a:r>
                        <a:rPr dirty="0" sz="1100" spc="-30">
                          <a:latin typeface="ヒラギノ明朝 ProN W3"/>
                          <a:cs typeface="ヒラギノ明朝 ProN W3"/>
                        </a:rPr>
                        <a:t>以上の乗用車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635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100" spc="-520">
                          <a:latin typeface="ヒラギノ明朝 ProN W3"/>
                          <a:cs typeface="ヒラギノ明朝 ProN W3"/>
                        </a:rPr>
                        <a:t>２ｔ</a:t>
                      </a:r>
                      <a:r>
                        <a:rPr dirty="0" sz="1100" spc="-355">
                          <a:latin typeface="ヒラギノ明朝 ProN W3"/>
                          <a:cs typeface="ヒラギノ明朝 ProN W3"/>
                        </a:rPr>
                        <a:t>トラック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635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100" spc="-520">
                          <a:latin typeface="ヒラギノ明朝 ProN W3"/>
                          <a:cs typeface="ヒラギノ明朝 ProN W3"/>
                        </a:rPr>
                        <a:t>２ｔ</a:t>
                      </a:r>
                      <a:r>
                        <a:rPr dirty="0" sz="1100" spc="-225">
                          <a:latin typeface="ヒラギノ明朝 ProN W3"/>
                          <a:cs typeface="ヒラギノ明朝 ProN W3"/>
                        </a:rPr>
                        <a:t>以上のトラック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635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3523869" y="4691634"/>
            <a:ext cx="320675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25">
                <a:latin typeface="ヒラギノ明朝 ProN W3"/>
                <a:cs typeface="ヒラギノ明朝 ProN W3"/>
              </a:rPr>
              <a:t>株式会社は㈱、有限会社は㈲に省略させていただきます。</a:t>
            </a:r>
            <a:endParaRPr sz="1050">
              <a:latin typeface="ヒラギノ明朝 ProN W3"/>
              <a:cs typeface="ヒラギノ明朝 ProN W3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631" y="510116"/>
            <a:ext cx="1823720" cy="880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1308" y="555498"/>
            <a:ext cx="797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75">
                <a:latin typeface="ヒラギノ明朝 ProN W3"/>
                <a:cs typeface="ヒラギノ明朝 ProN W3"/>
              </a:rPr>
              <a:t>提出書類 【２】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5025" y="804798"/>
            <a:ext cx="18072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ヒラギノ明朝 ProN W3"/>
                <a:cs typeface="ヒラギノ明朝 ProN W3"/>
              </a:rPr>
              <a:t>追加備品申込書</a:t>
            </a:r>
            <a:endParaRPr sz="20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97773" y="1427035"/>
          <a:ext cx="4796155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290"/>
                <a:gridCol w="1811020"/>
                <a:gridCol w="885825"/>
                <a:gridCol w="1197610"/>
              </a:tblGrid>
              <a:tr h="39624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050" spc="-15">
                          <a:latin typeface="ヒラギノ明朝 ProN W3"/>
                          <a:cs typeface="ヒラギノ明朝 ProN W3"/>
                        </a:rPr>
                        <a:t>出展者名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400"/>
                        </a:spcBef>
                      </a:pPr>
                      <a:r>
                        <a:rPr dirty="0" sz="1100" spc="-1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出展番号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900" spc="-44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9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主催者記入</a:t>
                      </a:r>
                      <a:r>
                        <a:rPr dirty="0" sz="900" spc="-5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080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361" y="1649095"/>
            <a:ext cx="216001" cy="2160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7865" y="1649348"/>
            <a:ext cx="1306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１  </a:t>
            </a:r>
            <a:r>
              <a:rPr dirty="0" sz="1200" spc="-165">
                <a:latin typeface="ヒラギノ明朝 ProN W3"/>
                <a:cs typeface="ヒラギノ明朝 ProN W3"/>
              </a:rPr>
              <a:t>基礎備品（無料</a:t>
            </a:r>
            <a:r>
              <a:rPr dirty="0" sz="1200" spc="-50">
                <a:latin typeface="ヒラギノ明朝 ProN W3"/>
                <a:cs typeface="ヒラギノ明朝 ProN W3"/>
              </a:rPr>
              <a:t>）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036" y="1983739"/>
          <a:ext cx="6452235" cy="592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2324100"/>
                <a:gridCol w="1485900"/>
                <a:gridCol w="742950"/>
                <a:gridCol w="457200"/>
                <a:gridCol w="1016635"/>
              </a:tblGrid>
              <a:tr h="197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項目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仕様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単価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数量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合計金額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95">
                          <a:latin typeface="ヒラギノ明朝 ProN W3"/>
                          <a:cs typeface="ヒラギノ明朝 ProN W3"/>
                        </a:rPr>
                        <a:t>テーブル</a:t>
                      </a:r>
                      <a:r>
                        <a:rPr dirty="0" sz="900" spc="-445"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170">
                          <a:latin typeface="ヒラギノ明朝 ProN W3"/>
                          <a:cs typeface="ヒラギノ明朝 ProN W3"/>
                        </a:rPr>
                        <a:t>白布なし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）</a:t>
                      </a:r>
                      <a:r>
                        <a:rPr dirty="0" sz="900" spc="280">
                          <a:latin typeface="ヒラギノ明朝 ProN W3"/>
                          <a:cs typeface="ヒラギノ明朝 ProN W3"/>
                        </a:rPr>
                        <a:t> 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※1</a:t>
                      </a:r>
                      <a:r>
                        <a:rPr dirty="0" sz="900" spc="-95">
                          <a:latin typeface="ヒラギノ明朝 ProN W3"/>
                          <a:cs typeface="ヒラギノ明朝 ProN W3"/>
                        </a:rPr>
                        <a:t>小間につき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00" spc="-70">
                          <a:latin typeface="ヒラギノ明朝 ProN W3"/>
                          <a:cs typeface="ヒラギノ明朝 ProN W3"/>
                        </a:rPr>
                        <a:t>本まで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Ｗ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1800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ｍｍ×Ｄ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450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1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034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1025525" algn="l"/>
                        </a:tabLst>
                      </a:pPr>
                      <a:r>
                        <a:rPr dirty="0" sz="900" spc="-180">
                          <a:latin typeface="ヒラギノ明朝 ProN W3"/>
                          <a:cs typeface="ヒラギノ明朝 ProN W3"/>
                        </a:rPr>
                        <a:t>イ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ス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※1</a:t>
                      </a:r>
                      <a:r>
                        <a:rPr dirty="0" sz="900" spc="-95">
                          <a:latin typeface="ヒラギノ明朝 ProN W3"/>
                          <a:cs typeface="ヒラギノ明朝 ProN W3"/>
                        </a:rPr>
                        <a:t>小間につ</a:t>
                      </a:r>
                      <a:r>
                        <a:rPr dirty="0" sz="900" spc="-85">
                          <a:latin typeface="ヒラギノ明朝 ProN W3"/>
                          <a:cs typeface="ヒラギノ明朝 ProN W3"/>
                        </a:rPr>
                        <a:t>き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00" spc="-80">
                          <a:latin typeface="ヒラギノ明朝 ProN W3"/>
                          <a:cs typeface="ヒラギノ明朝 ProN W3"/>
                        </a:rPr>
                        <a:t>脚ま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で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50">
                          <a:latin typeface="ヒラギノ明朝 ProN W3"/>
                          <a:cs typeface="ヒラギノ明朝 ProN W3"/>
                        </a:rPr>
                        <a:t>スタッキング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1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388" y="2783967"/>
            <a:ext cx="216001" cy="2159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2917" y="2784475"/>
            <a:ext cx="1687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FFFFF"/>
                </a:solidFill>
                <a:latin typeface="ヒラギノ明朝 ProN W3"/>
                <a:cs typeface="ヒラギノ明朝 ProN W3"/>
              </a:rPr>
              <a:t>２  </a:t>
            </a:r>
            <a:r>
              <a:rPr dirty="0" sz="1200" spc="-140">
                <a:latin typeface="ヒラギノ明朝 ProN W3"/>
                <a:cs typeface="ヒラギノ明朝 ProN W3"/>
              </a:rPr>
              <a:t>追加備品（</a:t>
            </a:r>
            <a:r>
              <a:rPr dirty="0" sz="1200" spc="-135">
                <a:latin typeface="ヒラギノ明朝 ProN W3"/>
                <a:cs typeface="ヒラギノ明朝 ProN W3"/>
              </a:rPr>
              <a:t>有料•税込</a:t>
            </a:r>
            <a:r>
              <a:rPr dirty="0" sz="1200" spc="-50">
                <a:latin typeface="ヒラギノ明朝 ProN W3"/>
                <a:cs typeface="ヒラギノ明朝 ProN W3"/>
              </a:rPr>
              <a:t>）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69036" y="3099435"/>
          <a:ext cx="6452235" cy="1382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2324100"/>
                <a:gridCol w="1485900"/>
                <a:gridCol w="742950"/>
                <a:gridCol w="457200"/>
                <a:gridCol w="1016635"/>
              </a:tblGrid>
              <a:tr h="197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項目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仕様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単価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数量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合計金額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739140" algn="l"/>
                        </a:tabLst>
                      </a:pPr>
                      <a:r>
                        <a:rPr dirty="0" sz="900" spc="-110">
                          <a:latin typeface="ヒラギノ明朝 ProN W3"/>
                          <a:cs typeface="ヒラギノ明朝 ProN W3"/>
                        </a:rPr>
                        <a:t>テ</a:t>
                      </a:r>
                      <a:r>
                        <a:rPr dirty="0" sz="900" spc="-95">
                          <a:latin typeface="ヒラギノ明朝 ProN W3"/>
                          <a:cs typeface="ヒラギノ明朝 ProN W3"/>
                        </a:rPr>
                        <a:t>ーブ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ル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※追加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分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Ｗ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1800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ｍｍ×Ｄ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450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1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550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735965" algn="l"/>
                        </a:tabLst>
                      </a:pPr>
                      <a:r>
                        <a:rPr dirty="0" sz="900" spc="-180">
                          <a:latin typeface="ヒラギノ明朝 ProN W3"/>
                          <a:cs typeface="ヒラギノ明朝 ProN W3"/>
                        </a:rPr>
                        <a:t>イ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ス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※追加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分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114">
                          <a:latin typeface="ヒラギノ明朝 ProN W3"/>
                          <a:cs typeface="ヒラギノ明朝 ProN W3"/>
                        </a:rPr>
                        <a:t>折りたたみ椅子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1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330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30">
                          <a:latin typeface="ヒラギノ明朝 ProN W3"/>
                          <a:cs typeface="ヒラギノ明朝 ProN W3"/>
                        </a:rPr>
                        <a:t>白布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Ｗ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2400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ｍｍ×Ｄ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1300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1,320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55">
                          <a:latin typeface="ヒラギノ明朝 ProN W3"/>
                          <a:cs typeface="ヒラギノ明朝 ProN W3"/>
                        </a:rPr>
                        <a:t>ビニールクロス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Ｗ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2400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ｍｍ×Ｄ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1300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1,650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36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155">
                          <a:latin typeface="ヒラギノ明朝 ProN W3"/>
                          <a:cs typeface="ヒラギノ明朝 ProN W3"/>
                        </a:rPr>
                        <a:t>床面パンチカーペット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Ｗ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4000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ｍｍ×Ｄ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2000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ｍｍ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17,600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229">
                          <a:latin typeface="ヒラギノ明朝 ProN W3"/>
                          <a:cs typeface="ヒラギノ明朝 ProN W3"/>
                        </a:rPr>
                        <a:t>ヨウカン棒</a:t>
                      </a:r>
                      <a:r>
                        <a:rPr dirty="0" sz="900" spc="-215"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125">
                          <a:latin typeface="ヒラギノ明朝 ProN W3"/>
                          <a:cs typeface="ヒラギノ明朝 ProN W3"/>
                        </a:rPr>
                        <a:t>展示用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Ｗ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1800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×Ｄ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450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×Ｈ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3,850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886" y="4610100"/>
            <a:ext cx="216001" cy="21602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7314" y="4610861"/>
            <a:ext cx="1992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FFFFF"/>
                </a:solidFill>
                <a:latin typeface="ヒラギノ明朝 ProN W3"/>
                <a:cs typeface="ヒラギノ明朝 ProN W3"/>
              </a:rPr>
              <a:t>３  </a:t>
            </a:r>
            <a:r>
              <a:rPr dirty="0" sz="1200" spc="-114">
                <a:latin typeface="ヒラギノ明朝 ProN W3"/>
                <a:cs typeface="ヒラギノ明朝 ProN W3"/>
              </a:rPr>
              <a:t>追加電気工事（有料•税込</a:t>
            </a:r>
            <a:r>
              <a:rPr dirty="0" sz="1200" spc="-50">
                <a:latin typeface="ヒラギノ明朝 ProN W3"/>
                <a:cs typeface="ヒラギノ明朝 ProN W3"/>
              </a:rPr>
              <a:t>）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43534" y="4925567"/>
          <a:ext cx="6452235" cy="1576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2324100"/>
                <a:gridCol w="1485900"/>
                <a:gridCol w="742950"/>
                <a:gridCol w="457200"/>
                <a:gridCol w="1016635"/>
              </a:tblGrid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項目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仕様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単価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数量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合計金額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30">
                          <a:latin typeface="Arial"/>
                          <a:cs typeface="Arial"/>
                        </a:rPr>
                        <a:t>100</a:t>
                      </a: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Ｖ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00" spc="-210">
                          <a:latin typeface="ヒラギノ明朝 ProN W3"/>
                          <a:cs typeface="ヒラギノ明朝 ProN W3"/>
                        </a:rPr>
                        <a:t>口コンセント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100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Ｖ</a:t>
                      </a:r>
                      <a:r>
                        <a:rPr dirty="0" sz="900" spc="125">
                          <a:latin typeface="ヒラギノ明朝 ProN W3"/>
                          <a:cs typeface="ヒラギノ明朝 ProN W3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1.5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5,500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単相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Ｖ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00" spc="-210">
                          <a:latin typeface="ヒラギノ明朝 ProN W3"/>
                          <a:cs typeface="ヒラギノ明朝 ProN W3"/>
                        </a:rPr>
                        <a:t>口コンセント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Ｖ</a:t>
                      </a:r>
                      <a:r>
                        <a:rPr dirty="0" sz="900" spc="135">
                          <a:latin typeface="ヒラギノ明朝 ProN W3"/>
                          <a:cs typeface="ヒラギノ明朝 ProN W3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12,100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三層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900" spc="-35">
                          <a:latin typeface="ヒラギノ明朝 ProN W3"/>
                          <a:cs typeface="ヒラギノ明朝 ProN W3"/>
                        </a:rPr>
                        <a:t>Ｖ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00" spc="-210">
                          <a:latin typeface="ヒラギノ明朝 ProN W3"/>
                          <a:cs typeface="ヒラギノ明朝 ProN W3"/>
                        </a:rPr>
                        <a:t>口コンセント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Ｖ</a:t>
                      </a:r>
                      <a:r>
                        <a:rPr dirty="0" sz="900" spc="135">
                          <a:latin typeface="ヒラギノ明朝 ProN W3"/>
                          <a:cs typeface="ヒラギノ明朝 ProN W3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12,100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85">
                          <a:latin typeface="ヒラギノ明朝 ProN W3"/>
                          <a:cs typeface="ヒラギノ明朝 ProN W3"/>
                        </a:rPr>
                        <a:t>アームスポット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100</a:t>
                      </a: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6,050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80">
                          <a:latin typeface="ヒラギノ明朝 ProN W3"/>
                          <a:cs typeface="ヒラギノ明朝 ProN W3"/>
                        </a:rPr>
                        <a:t>クリップライト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100</a:t>
                      </a: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4,950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15">
                          <a:latin typeface="ヒラギノ明朝 ProN W3"/>
                          <a:cs typeface="ヒラギノ明朝 ProN W3"/>
                        </a:rPr>
                        <a:t>スタンドスポット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300</a:t>
                      </a: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8,800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蛍光灯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ＦＬ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40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4,950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24</a:t>
                      </a:r>
                      <a:r>
                        <a:rPr dirty="0" sz="900" spc="-90">
                          <a:latin typeface="ヒラギノ明朝 ProN W3"/>
                          <a:cs typeface="ヒラギノ明朝 ProN W3"/>
                        </a:rPr>
                        <a:t>時間通電</a:t>
                      </a:r>
                      <a:r>
                        <a:rPr dirty="0" sz="900" spc="-40"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00" spc="-170">
                          <a:latin typeface="ヒラギノ明朝 ProN W3"/>
                          <a:cs typeface="ヒラギノ明朝 ProN W3"/>
                        </a:rPr>
                        <a:t>ブースごと</a:t>
                      </a:r>
                      <a:r>
                        <a:rPr dirty="0" sz="900" spc="-420"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￥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2,200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2564" y="6717792"/>
            <a:ext cx="216001" cy="2159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7852" y="6719061"/>
            <a:ext cx="1840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４  </a:t>
            </a:r>
            <a:r>
              <a:rPr dirty="0" sz="1200" spc="-120">
                <a:latin typeface="ヒラギノ明朝 ProN W3"/>
                <a:cs typeface="ヒラギノ明朝 ProN W3"/>
              </a:rPr>
              <a:t>追加給排水（</a:t>
            </a:r>
            <a:r>
              <a:rPr dirty="0" sz="1200" spc="-114">
                <a:latin typeface="ヒラギノ明朝 ProN W3"/>
                <a:cs typeface="ヒラギノ明朝 ProN W3"/>
              </a:rPr>
              <a:t>有料•税込</a:t>
            </a:r>
            <a:r>
              <a:rPr dirty="0" sz="1200" spc="-50">
                <a:latin typeface="ヒラギノ明朝 ProN W3"/>
                <a:cs typeface="ヒラギノ明朝 ProN W3"/>
              </a:rPr>
              <a:t>）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4213" y="7033259"/>
          <a:ext cx="6452235" cy="524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2324100"/>
                <a:gridCol w="1485900"/>
                <a:gridCol w="489585"/>
                <a:gridCol w="1727200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項目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仕様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数量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合計金額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50">
                          <a:latin typeface="ヒラギノ明朝 ProN W3"/>
                          <a:cs typeface="ヒラギノ明朝 ProN W3"/>
                        </a:rPr>
                        <a:t>１漕シンク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35">
                          <a:latin typeface="ヒラギノ明朝 ProN W3"/>
                          <a:cs typeface="ヒラギノ明朝 ProN W3"/>
                        </a:rPr>
                        <a:t>別途お見積りいたします。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19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50">
                          <a:latin typeface="ヒラギノ明朝 ProN W3"/>
                          <a:cs typeface="ヒラギノ明朝 ProN W3"/>
                        </a:rPr>
                        <a:t>２漕シンク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35">
                          <a:latin typeface="ヒラギノ明朝 ProN W3"/>
                          <a:cs typeface="ヒラギノ明朝 ProN W3"/>
                        </a:rPr>
                        <a:t>別途お見積りいたします。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473322" y="8919362"/>
          <a:ext cx="3347720" cy="259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1405"/>
                <a:gridCol w="2183130"/>
              </a:tblGrid>
              <a:tr h="25907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合計金額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20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206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651459" y="8990482"/>
            <a:ext cx="2110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">
                <a:latin typeface="ヒラギノ明朝 ProN W3"/>
                <a:cs typeface="ヒラギノ明朝 ProN W3"/>
              </a:rPr>
              <a:t>お支払い方法 </a:t>
            </a:r>
            <a:r>
              <a:rPr dirty="0" sz="1000" spc="-145">
                <a:latin typeface="ヒラギノ明朝 ProN W3"/>
                <a:cs typeface="ヒラギノ明朝 ProN W3"/>
              </a:rPr>
              <a:t>○印をご記入ください</a:t>
            </a:r>
            <a:endParaRPr sz="1000">
              <a:latin typeface="ヒラギノ明朝 ProN W3"/>
              <a:cs typeface="ヒラギノ明朝 ProN W3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1693" y="9000756"/>
            <a:ext cx="216001" cy="2160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37184" y="9020657"/>
            <a:ext cx="12636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31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６</a:t>
            </a:r>
            <a:endParaRPr sz="105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225245" y="9401333"/>
          <a:ext cx="4084954" cy="17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635"/>
                <a:gridCol w="1594485"/>
              </a:tblGrid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dirty="0" sz="1400" spc="-50">
                          <a:latin typeface="ヒラギノ明朝 ProN W3"/>
                          <a:cs typeface="ヒラギノ明朝 ProN W3"/>
                        </a:rPr>
                        <a:t>銀行振り込み</a:t>
                      </a:r>
                      <a:r>
                        <a:rPr dirty="0" sz="1000" spc="-125"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1000" spc="-125">
                          <a:latin typeface="Arial"/>
                          <a:cs typeface="Arial"/>
                        </a:rPr>
                        <a:t>11/</a:t>
                      </a:r>
                      <a:r>
                        <a:rPr dirty="0" sz="1000" spc="-125">
                          <a:latin typeface="ヒラギノ明朝 ProN W3"/>
                          <a:cs typeface="ヒラギノ明朝 ProN W3"/>
                        </a:rPr>
                        <a:t>１</a:t>
                      </a:r>
                      <a:r>
                        <a:rPr dirty="0" sz="1000" spc="-125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000" spc="-125"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1000" spc="-260">
                          <a:latin typeface="ヒラギノ明朝 ProN W3"/>
                          <a:cs typeface="ヒラギノ明朝 ProN W3"/>
                        </a:rPr>
                        <a:t>金</a:t>
                      </a:r>
                      <a:r>
                        <a:rPr dirty="0" sz="1000" spc="-254">
                          <a:latin typeface="ヒラギノ明朝 ProN W3"/>
                          <a:cs typeface="ヒラギノ明朝 ProN W3"/>
                        </a:rPr>
                        <a:t>）</a:t>
                      </a:r>
                      <a:r>
                        <a:rPr dirty="0" sz="1000" spc="-55">
                          <a:latin typeface="ヒラギノ明朝 ProN W3"/>
                          <a:cs typeface="ヒラギノ明朝 ProN W3"/>
                        </a:rPr>
                        <a:t>まで</a:t>
                      </a:r>
                      <a:r>
                        <a:rPr dirty="0" sz="1000" spc="-560"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1305"/>
                        </a:lnSpc>
                      </a:pPr>
                      <a:r>
                        <a:rPr dirty="0" sz="1400" spc="-10">
                          <a:latin typeface="ヒラギノ明朝 ProN W3"/>
                          <a:cs typeface="ヒラギノ明朝 ProN W3"/>
                        </a:rPr>
                        <a:t>当日現金支払い</a:t>
                      </a:r>
                      <a:endParaRPr sz="14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360677" y="9631476"/>
            <a:ext cx="19113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80">
                <a:latin typeface="ヒラギノ明朝 ProN W3"/>
                <a:cs typeface="ヒラギノ明朝 ProN W3"/>
              </a:rPr>
              <a:t>振込の手数料は出展者様のご負担でお願いします。</a:t>
            </a:r>
            <a:endParaRPr sz="700">
              <a:latin typeface="ヒラギノ明朝 ProN W3"/>
              <a:cs typeface="ヒラギノ明朝 ProN W3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2564" y="7842504"/>
            <a:ext cx="216001" cy="2159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47852" y="7843773"/>
            <a:ext cx="2085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５  </a:t>
            </a:r>
            <a:r>
              <a:rPr dirty="0" sz="1200" spc="-110">
                <a:latin typeface="ヒラギノ明朝 ProN W3"/>
                <a:cs typeface="ヒラギノ明朝 ProN W3"/>
              </a:rPr>
              <a:t>別途見積もりを希望する備品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84213" y="8157971"/>
          <a:ext cx="6452235" cy="524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2324100"/>
                <a:gridCol w="1485900"/>
                <a:gridCol w="489585"/>
                <a:gridCol w="1727200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項目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仕様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数量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合計金額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20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35">
                          <a:latin typeface="ヒラギノ明朝 ProN W3"/>
                          <a:cs typeface="ヒラギノ明朝 ProN W3"/>
                        </a:rPr>
                        <a:t>別途お見積りいたします。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21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00" spc="-135">
                          <a:latin typeface="ヒラギノ明朝 ProN W3"/>
                          <a:cs typeface="ヒラギノ明朝 ProN W3"/>
                        </a:rPr>
                        <a:t>別途お見積りいたします。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0" y="0"/>
            <a:ext cx="6858000" cy="360045"/>
          </a:xfrm>
          <a:custGeom>
            <a:avLst/>
            <a:gdLst/>
            <a:ahLst/>
            <a:cxnLst/>
            <a:rect l="l" t="t" r="r" b="b"/>
            <a:pathLst>
              <a:path w="6858000" h="360045">
                <a:moveTo>
                  <a:pt x="6858000" y="0"/>
                </a:moveTo>
                <a:lnTo>
                  <a:pt x="0" y="0"/>
                </a:lnTo>
                <a:lnTo>
                  <a:pt x="0" y="360045"/>
                </a:lnTo>
                <a:lnTo>
                  <a:pt x="6858000" y="360045"/>
                </a:lnTo>
                <a:lnTo>
                  <a:pt x="685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76173" y="65277"/>
            <a:ext cx="5699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solidFill>
                  <a:srgbClr val="FFFFFF"/>
                </a:solidFill>
                <a:latin typeface="ヒラギノ明朝 ProN W3"/>
                <a:cs typeface="ヒラギノ明朝 ProN W3"/>
              </a:rPr>
              <a:t>【書類提出先】  </a:t>
            </a:r>
            <a:r>
              <a:rPr dirty="0" sz="1400" spc="-250">
                <a:solidFill>
                  <a:srgbClr val="FFFFFF"/>
                </a:solidFill>
                <a:latin typeface="ヒラギノ明朝 ProN W3"/>
                <a:cs typeface="ヒラギノ明朝 ProN W3"/>
              </a:rPr>
              <a:t>㈱エイエイピー 担当：杉山•蜂屋 ＦＡＸ：０５４－２８４－６３３０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24325" y="483158"/>
            <a:ext cx="1537335" cy="806450"/>
          </a:xfrm>
          <a:custGeom>
            <a:avLst/>
            <a:gdLst/>
            <a:ahLst/>
            <a:cxnLst/>
            <a:rect l="l" t="t" r="r" b="b"/>
            <a:pathLst>
              <a:path w="1537335" h="806450">
                <a:moveTo>
                  <a:pt x="0" y="806399"/>
                </a:moveTo>
                <a:lnTo>
                  <a:pt x="1536953" y="806399"/>
                </a:lnTo>
                <a:lnTo>
                  <a:pt x="1536953" y="0"/>
                </a:lnTo>
                <a:lnTo>
                  <a:pt x="0" y="0"/>
                </a:lnTo>
                <a:lnTo>
                  <a:pt x="0" y="8063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133850" y="540766"/>
            <a:ext cx="1518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3709" marR="150495" indent="-312420">
              <a:lnSpc>
                <a:spcPct val="100000"/>
              </a:lnSpc>
              <a:spcBef>
                <a:spcPts val="100"/>
              </a:spcBef>
            </a:pPr>
            <a:r>
              <a:rPr dirty="0" sz="900" spc="-125">
                <a:latin typeface="ヒラギノ明朝 ProN W3"/>
                <a:cs typeface="ヒラギノ明朝 ProN W3"/>
              </a:rPr>
              <a:t>産業フェアしずおか</a:t>
            </a:r>
            <a:r>
              <a:rPr dirty="0" sz="900" spc="40">
                <a:latin typeface="Arial"/>
                <a:cs typeface="Arial"/>
              </a:rPr>
              <a:t>2025</a:t>
            </a:r>
            <a:r>
              <a:rPr dirty="0" sz="900" spc="-10">
                <a:latin typeface="ヒラギノ明朝 ProN W3"/>
                <a:cs typeface="ヒラギノ明朝 ProN W3"/>
              </a:rPr>
              <a:t>出展事務局</a:t>
            </a:r>
            <a:endParaRPr sz="900">
              <a:latin typeface="ヒラギノ明朝 ProN W3"/>
              <a:cs typeface="ヒラギノ明朝 ProN W3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33850" y="885824"/>
            <a:ext cx="15182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ts val="955"/>
              </a:lnSpc>
              <a:spcBef>
                <a:spcPts val="100"/>
              </a:spcBef>
            </a:pPr>
            <a:r>
              <a:rPr dirty="0" sz="800" spc="-125">
                <a:latin typeface="ヒラギノ明朝 ProN W3"/>
                <a:cs typeface="ヒラギノ明朝 ProN W3"/>
              </a:rPr>
              <a:t>㈱エイエイピー：杉山•蜂屋</a:t>
            </a:r>
            <a:endParaRPr sz="800">
              <a:latin typeface="ヒラギノ明朝 ProN W3"/>
              <a:cs typeface="ヒラギノ明朝 ProN W3"/>
            </a:endParaRPr>
          </a:p>
          <a:p>
            <a:pPr algn="ctr" marL="1905">
              <a:lnSpc>
                <a:spcPts val="835"/>
              </a:lnSpc>
            </a:pPr>
            <a:r>
              <a:rPr dirty="0" sz="700" spc="-90">
                <a:latin typeface="ヒラギノ明朝 ProN W3"/>
                <a:cs typeface="ヒラギノ明朝 ProN W3"/>
              </a:rPr>
              <a:t>ＦＡＸ：</a:t>
            </a:r>
            <a:r>
              <a:rPr dirty="0" sz="700" spc="-90">
                <a:latin typeface="Arial"/>
                <a:cs typeface="Arial"/>
              </a:rPr>
              <a:t>054-</a:t>
            </a:r>
            <a:r>
              <a:rPr dirty="0" sz="700" spc="70">
                <a:latin typeface="Arial"/>
                <a:cs typeface="Arial"/>
              </a:rPr>
              <a:t>284-</a:t>
            </a:r>
            <a:r>
              <a:rPr dirty="0" sz="700" spc="-20">
                <a:latin typeface="Arial"/>
                <a:cs typeface="Arial"/>
              </a:rPr>
              <a:t>6330</a:t>
            </a:r>
            <a:endParaRPr sz="7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700" spc="60">
                <a:latin typeface="Arial"/>
                <a:cs typeface="Arial"/>
                <a:hlinkClick r:id="rId8"/>
              </a:rPr>
              <a:t>sf-</a:t>
            </a:r>
            <a:r>
              <a:rPr dirty="0" sz="700" spc="-10">
                <a:latin typeface="Arial"/>
                <a:cs typeface="Arial"/>
                <a:hlinkClick r:id="rId8"/>
              </a:rPr>
              <a:t>shizuoka2025@aap-jim.com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129087" y="475526"/>
            <a:ext cx="2612390" cy="817880"/>
            <a:chOff x="4129087" y="475526"/>
            <a:chExt cx="2612390" cy="817880"/>
          </a:xfrm>
        </p:grpSpPr>
        <p:sp>
          <p:nvSpPr>
            <p:cNvPr id="32" name="object 32"/>
            <p:cNvSpPr/>
            <p:nvPr/>
          </p:nvSpPr>
          <p:spPr>
            <a:xfrm>
              <a:off x="4133850" y="859155"/>
              <a:ext cx="1487805" cy="0"/>
            </a:xfrm>
            <a:custGeom>
              <a:avLst/>
              <a:gdLst/>
              <a:ahLst/>
              <a:cxnLst/>
              <a:rect l="l" t="t" r="r" b="b"/>
              <a:pathLst>
                <a:path w="1487804" h="0">
                  <a:moveTo>
                    <a:pt x="0" y="0"/>
                  </a:moveTo>
                  <a:lnTo>
                    <a:pt x="148780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661278" y="475526"/>
              <a:ext cx="1080135" cy="817880"/>
            </a:xfrm>
            <a:custGeom>
              <a:avLst/>
              <a:gdLst/>
              <a:ahLst/>
              <a:cxnLst/>
              <a:rect l="l" t="t" r="r" b="b"/>
              <a:pathLst>
                <a:path w="1080134" h="817880">
                  <a:moveTo>
                    <a:pt x="1080122" y="0"/>
                  </a:moveTo>
                  <a:lnTo>
                    <a:pt x="0" y="0"/>
                  </a:lnTo>
                  <a:lnTo>
                    <a:pt x="0" y="817841"/>
                  </a:lnTo>
                  <a:lnTo>
                    <a:pt x="1080122" y="817841"/>
                  </a:lnTo>
                  <a:lnTo>
                    <a:pt x="1080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773673" y="842593"/>
            <a:ext cx="857250" cy="3740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664"/>
              </a:lnSpc>
              <a:spcBef>
                <a:spcPts val="105"/>
              </a:spcBef>
            </a:pPr>
            <a:r>
              <a:rPr dirty="0" sz="1400" spc="60" b="1">
                <a:solidFill>
                  <a:srgbClr val="FFFFFF"/>
                </a:solidFill>
                <a:latin typeface="Arial"/>
                <a:cs typeface="Arial"/>
              </a:rPr>
              <a:t>10/8</a:t>
            </a:r>
            <a:r>
              <a:rPr dirty="0" sz="1400" spc="60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（</a:t>
            </a:r>
            <a:r>
              <a:rPr dirty="0" sz="1400" spc="-350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水</a:t>
            </a:r>
            <a:r>
              <a:rPr dirty="0" sz="1400" spc="-400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）</a:t>
            </a:r>
            <a:endParaRPr sz="1400">
              <a:latin typeface="ヒラギノ明朝 ProN W6"/>
              <a:cs typeface="ヒラギノ明朝 ProN W6"/>
            </a:endParaRPr>
          </a:p>
          <a:p>
            <a:pPr algn="ctr">
              <a:lnSpc>
                <a:spcPts val="1065"/>
              </a:lnSpc>
            </a:pPr>
            <a:r>
              <a:rPr dirty="0" sz="900" spc="-15" b="1">
                <a:solidFill>
                  <a:srgbClr val="FFFFFF"/>
                </a:solidFill>
                <a:latin typeface="ヒラギノ明朝 ProN W6"/>
                <a:cs typeface="ヒラギノ明朝 ProN W6"/>
              </a:rPr>
              <a:t>提出期限</a:t>
            </a:r>
            <a:endParaRPr sz="900">
              <a:latin typeface="ヒラギノ明朝 ProN W6"/>
              <a:cs typeface="ヒラギノ明朝 ProN W6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697728" y="544931"/>
            <a:ext cx="1007744" cy="221615"/>
            <a:chOff x="5697728" y="544931"/>
            <a:chExt cx="1007744" cy="221615"/>
          </a:xfrm>
        </p:grpSpPr>
        <p:sp>
          <p:nvSpPr>
            <p:cNvPr id="36" name="object 36"/>
            <p:cNvSpPr/>
            <p:nvPr/>
          </p:nvSpPr>
          <p:spPr>
            <a:xfrm>
              <a:off x="5710428" y="557631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981849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981849" y="196113"/>
                  </a:lnTo>
                  <a:lnTo>
                    <a:pt x="98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710428" y="557631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0" y="196113"/>
                  </a:moveTo>
                  <a:lnTo>
                    <a:pt x="981849" y="196113"/>
                  </a:lnTo>
                  <a:lnTo>
                    <a:pt x="981849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710428" y="557631"/>
            <a:ext cx="982344" cy="1962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223520">
              <a:lnSpc>
                <a:spcPct val="100000"/>
              </a:lnSpc>
              <a:spcBef>
                <a:spcPts val="170"/>
              </a:spcBef>
            </a:pPr>
            <a:r>
              <a:rPr dirty="0" sz="1050" spc="-15">
                <a:latin typeface="ヒラギノ明朝 ProN W3"/>
                <a:cs typeface="ヒラギノ明朝 ProN W3"/>
              </a:rPr>
              <a:t>全出展者</a:t>
            </a:r>
            <a:endParaRPr sz="1050">
              <a:latin typeface="ヒラギノ明朝 ProN W3"/>
              <a:cs typeface="ヒラギノ明朝 ProN W3"/>
            </a:endParaRPr>
          </a:p>
        </p:txBody>
      </p:sp>
      <p:pic>
        <p:nvPicPr>
          <p:cNvPr id="39" name="object 3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631" y="510116"/>
            <a:ext cx="1823720" cy="880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632" y="498521"/>
            <a:ext cx="1631442" cy="78746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57832" y="449712"/>
            <a:ext cx="2071370" cy="84709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-175">
                <a:latin typeface="ヒラギノ明朝 ProN W3"/>
                <a:cs typeface="ヒラギノ明朝 ProN W3"/>
              </a:rPr>
              <a:t>提出書類 【３】</a:t>
            </a:r>
            <a:endParaRPr sz="1000">
              <a:latin typeface="ヒラギノ明朝 ProN W3"/>
              <a:cs typeface="ヒラギノ明朝 ProN W3"/>
            </a:endParaRPr>
          </a:p>
          <a:p>
            <a:pPr marL="403225" marR="5080" indent="-382905">
              <a:lnSpc>
                <a:spcPct val="100000"/>
              </a:lnSpc>
              <a:spcBef>
                <a:spcPts val="315"/>
              </a:spcBef>
            </a:pPr>
            <a:r>
              <a:rPr dirty="0" sz="2000" spc="-75">
                <a:latin typeface="ヒラギノ明朝 ProN W3"/>
                <a:cs typeface="ヒラギノ明朝 ProN W3"/>
              </a:rPr>
              <a:t>電気•火気•危険物</a:t>
            </a:r>
            <a:r>
              <a:rPr dirty="0" sz="2000" spc="-10">
                <a:latin typeface="ヒラギノ明朝 ProN W3"/>
                <a:cs typeface="ヒラギノ明朝 ProN W3"/>
              </a:rPr>
              <a:t>使用申請書</a:t>
            </a:r>
            <a:endParaRPr sz="2000">
              <a:latin typeface="ヒラギノ明朝 ProN W3"/>
              <a:cs typeface="ヒラギノ明朝 ProN W3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361" y="1845055"/>
            <a:ext cx="216001" cy="2160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8442" y="1381125"/>
            <a:ext cx="1499870" cy="672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latin typeface="ヒラギノ明朝 ProN W3"/>
                <a:cs typeface="ヒラギノ明朝 ProN W3"/>
              </a:rPr>
              <a:t>使用の有無について</a:t>
            </a:r>
            <a:r>
              <a:rPr dirty="0" sz="1200" spc="500">
                <a:latin typeface="ヒラギノ明朝 ProN W3"/>
                <a:cs typeface="ヒラギノ明朝 ProN W3"/>
              </a:rPr>
              <a:t> </a:t>
            </a:r>
            <a:r>
              <a:rPr dirty="0" sz="1200" spc="-180">
                <a:latin typeface="ヒラギノ明朝 ProN W3"/>
                <a:cs typeface="ヒラギノ明朝 ProN W3"/>
              </a:rPr>
              <a:t>必ず✓をお願いします。</a:t>
            </a:r>
            <a:endParaRPr sz="1200">
              <a:latin typeface="ヒラギノ明朝 ProN W3"/>
              <a:cs typeface="ヒラギノ明朝 ProN W3"/>
            </a:endParaRPr>
          </a:p>
          <a:p>
            <a:pPr marL="121920">
              <a:lnSpc>
                <a:spcPct val="100000"/>
              </a:lnSpc>
              <a:spcBef>
                <a:spcPts val="775"/>
              </a:spcBef>
            </a:pPr>
            <a:r>
              <a:rPr dirty="0" sz="1050" spc="-2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１  </a:t>
            </a:r>
            <a:r>
              <a:rPr dirty="0" sz="1200" spc="-25">
                <a:latin typeface="ヒラギノ明朝 ProN W3"/>
                <a:cs typeface="ヒラギノ明朝 ProN W3"/>
              </a:rPr>
              <a:t>電気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7924" y="2168588"/>
          <a:ext cx="6474460" cy="874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1847850"/>
                <a:gridCol w="885825"/>
                <a:gridCol w="381000"/>
                <a:gridCol w="1981200"/>
                <a:gridCol w="930910"/>
              </a:tblGrid>
              <a:tr h="174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35">
                          <a:latin typeface="ヒラギノ明朝 ProN W3"/>
                          <a:cs typeface="ヒラギノ明朝 ProN W3"/>
                        </a:rPr>
                        <a:t>電気の使用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144905" algn="l"/>
                        </a:tabLst>
                      </a:pP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有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使用機器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容量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使用機器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容量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511" y="3208527"/>
            <a:ext cx="216001" cy="2160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8053" y="3209035"/>
            <a:ext cx="1279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２  </a:t>
            </a:r>
            <a:r>
              <a:rPr dirty="0" sz="1200" spc="-50">
                <a:latin typeface="ヒラギノ明朝 ProN W3"/>
                <a:cs typeface="ヒラギノ明朝 ProN W3"/>
              </a:rPr>
              <a:t>持ち込み危険物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8074" y="3466655"/>
          <a:ext cx="6474460" cy="1050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1847850"/>
                <a:gridCol w="3248025"/>
                <a:gridCol w="930910"/>
              </a:tblGrid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55">
                          <a:latin typeface="ヒラギノ明朝 ProN W3"/>
                          <a:cs typeface="ヒラギノ明朝 ProN W3"/>
                        </a:rPr>
                        <a:t>危険物の持ち込み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1144905" algn="l"/>
                        </a:tabLst>
                      </a:pP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有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品名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用途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60">
                          <a:latin typeface="ヒラギノ明朝 ProN W3"/>
                          <a:cs typeface="ヒラギノ明朝 ProN W3"/>
                        </a:rPr>
                        <a:t>持ち込み量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7934" y="4611370"/>
            <a:ext cx="216001" cy="21602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3235" y="4612385"/>
            <a:ext cx="849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３  </a:t>
            </a:r>
            <a:r>
              <a:rPr dirty="0" sz="1200" spc="-15">
                <a:latin typeface="ヒラギノ明朝 ProN W3"/>
                <a:cs typeface="ヒラギノ明朝 ProN W3"/>
              </a:rPr>
              <a:t>火気使用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43496" y="4891341"/>
          <a:ext cx="6474460" cy="1050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1847850"/>
                <a:gridCol w="3248025"/>
                <a:gridCol w="930910"/>
              </a:tblGrid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45">
                          <a:latin typeface="ヒラギノ明朝 ProN W3"/>
                          <a:cs typeface="ヒラギノ明朝 ProN W3"/>
                        </a:rPr>
                        <a:t>火気の使用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1145540" algn="l"/>
                        </a:tabLst>
                      </a:pP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有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品名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用途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60">
                          <a:latin typeface="ヒラギノ明朝 ProN W3"/>
                          <a:cs typeface="ヒラギノ明朝 ProN W3"/>
                        </a:rPr>
                        <a:t>熱量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kcal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2368042" y="4649851"/>
            <a:ext cx="4378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latin typeface="ヒラギノ明朝 ProN W3"/>
                <a:cs typeface="ヒラギノ明朝 ProN W3"/>
              </a:rPr>
              <a:t>※炭等は会場内許可総量の都合上、容量を制限させていただく場合がございます。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414" y="6164326"/>
            <a:ext cx="6180455" cy="9982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6944" sz="1800" spc="-262">
                <a:latin typeface="ヒラギノ明朝 ProN W3"/>
                <a:cs typeface="ヒラギノ明朝 ProN W3"/>
              </a:rPr>
              <a:t>ブース内レイアウト </a:t>
            </a:r>
            <a:r>
              <a:rPr dirty="0" sz="1000" spc="-180">
                <a:latin typeface="ヒラギノ明朝 ProN W3"/>
                <a:cs typeface="ヒラギノ明朝 ProN W3"/>
              </a:rPr>
              <a:t>コンセント、テーブル、イス等の備品、火気類の使用場所などの位置を図解にてご記入ください。</a:t>
            </a:r>
            <a:endParaRPr sz="1000">
              <a:latin typeface="ヒラギノ明朝 ProN W3"/>
              <a:cs typeface="ヒラギノ明朝 ProN W3"/>
            </a:endParaRPr>
          </a:p>
          <a:p>
            <a:pPr marL="170815" marR="147955" indent="-83820">
              <a:lnSpc>
                <a:spcPct val="100000"/>
              </a:lnSpc>
              <a:spcBef>
                <a:spcPts val="850"/>
              </a:spcBef>
            </a:pPr>
            <a:r>
              <a:rPr dirty="0" sz="1000" spc="-145">
                <a:latin typeface="ヒラギノ明朝 ProN W3"/>
                <a:cs typeface="ヒラギノ明朝 ProN W3"/>
              </a:rPr>
              <a:t>◎こちらの書類は消防書に提出いたします。使用器具ごとの使用熱量</a:t>
            </a:r>
            <a:r>
              <a:rPr dirty="0" sz="1000" spc="-420">
                <a:latin typeface="ヒラギノ明朝 ProN W3"/>
                <a:cs typeface="ヒラギノ明朝 ProN W3"/>
              </a:rPr>
              <a:t>（ｋｃａｌ）</a:t>
            </a:r>
            <a:r>
              <a:rPr dirty="0" sz="1000" spc="-145">
                <a:latin typeface="ヒラギノ明朝 ProN W3"/>
                <a:cs typeface="ヒラギノ明朝 ProN W3"/>
              </a:rPr>
              <a:t>、電気容量</a:t>
            </a:r>
            <a:r>
              <a:rPr dirty="0" sz="1000" spc="-295">
                <a:latin typeface="ヒラギノ明朝 ProN W3"/>
                <a:cs typeface="ヒラギノ明朝 ProN W3"/>
              </a:rPr>
              <a:t>（ｋｗ）</a:t>
            </a:r>
            <a:r>
              <a:rPr dirty="0" sz="1000" spc="-120">
                <a:latin typeface="ヒラギノ明朝 ProN W3"/>
                <a:cs typeface="ヒラギノ明朝 ProN W3"/>
              </a:rPr>
              <a:t>、消火器、給排水、</a:t>
            </a:r>
            <a:r>
              <a:rPr dirty="0" sz="1000" spc="-160">
                <a:latin typeface="ヒラギノ明朝 ProN W3"/>
                <a:cs typeface="ヒラギノ明朝 ProN W3"/>
              </a:rPr>
              <a:t>オプション備品の設置位置を確実にご記入ください。</a:t>
            </a:r>
            <a:r>
              <a:rPr dirty="0" u="sng" sz="1000" spc="-505">
                <a:uFill>
                  <a:solidFill>
                    <a:srgbClr val="000000"/>
                  </a:solidFill>
                </a:uFill>
                <a:latin typeface="ヒラギノ明朝 ProN W3"/>
                <a:cs typeface="ヒラギノ明朝 ProN W3"/>
              </a:rPr>
              <a:t>（</a:t>
            </a:r>
            <a:r>
              <a:rPr dirty="0" u="sng" sz="1000" spc="-110">
                <a:uFill>
                  <a:solidFill>
                    <a:srgbClr val="000000"/>
                  </a:solidFill>
                </a:uFill>
                <a:latin typeface="ヒラギノ明朝 ProN W3"/>
                <a:cs typeface="ヒラギノ明朝 ProN W3"/>
              </a:rPr>
              <a:t>裸火使用の場合は別途器具の仕様書をご提出ください</a:t>
            </a:r>
            <a:r>
              <a:rPr dirty="0" u="sng" sz="1000" spc="-560">
                <a:uFill>
                  <a:solidFill>
                    <a:srgbClr val="000000"/>
                  </a:solidFill>
                </a:uFill>
                <a:latin typeface="ヒラギノ明朝 ProN W3"/>
                <a:cs typeface="ヒラギノ明朝 ProN W3"/>
              </a:rPr>
              <a:t>）</a:t>
            </a:r>
            <a:endParaRPr sz="1000">
              <a:latin typeface="ヒラギノ明朝 ProN W3"/>
              <a:cs typeface="ヒラギノ明朝 ProN W3"/>
            </a:endParaRPr>
          </a:p>
          <a:p>
            <a:pPr marL="869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ヒラギノ明朝 ProN W3"/>
                <a:cs typeface="ヒラギノ明朝 ProN W3"/>
              </a:rPr>
              <a:t>◎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160">
                <a:latin typeface="ヒラギノ明朝 ProN W3"/>
                <a:cs typeface="ヒラギノ明朝 ProN W3"/>
              </a:rPr>
              <a:t>コマ使用の場合、または隣接ブースと協議の上、壁を取り外す場合には必ずご記入ください。</a:t>
            </a:r>
            <a:endParaRPr sz="1000">
              <a:latin typeface="ヒラギノ明朝 ProN W3"/>
              <a:cs typeface="ヒラギノ明朝 ProN W3"/>
            </a:endParaRPr>
          </a:p>
          <a:p>
            <a:pPr marL="2841625">
              <a:lnSpc>
                <a:spcPct val="100000"/>
              </a:lnSpc>
              <a:spcBef>
                <a:spcPts val="505"/>
              </a:spcBef>
            </a:pPr>
            <a:r>
              <a:rPr dirty="0" sz="800" spc="-95">
                <a:latin typeface="ヒラギノ明朝 ProN W3"/>
                <a:cs typeface="ヒラギノ明朝 ProN W3"/>
              </a:rPr>
              <a:t>※火気を使用する場合、消火器の設置が義務付けられています</a:t>
            </a:r>
            <a:endParaRPr sz="800">
              <a:latin typeface="ヒラギノ明朝 ProN W3"/>
              <a:cs typeface="ヒラギノ明朝 ProN W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7934" y="6181725"/>
            <a:ext cx="216001" cy="21602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3235" y="6201283"/>
            <a:ext cx="12636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31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３</a:t>
            </a:r>
            <a:endParaRPr sz="105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858329" y="7187565"/>
          <a:ext cx="5098415" cy="24574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765"/>
                <a:gridCol w="278765"/>
                <a:gridCol w="278764"/>
                <a:gridCol w="278765"/>
                <a:gridCol w="278765"/>
                <a:gridCol w="278764"/>
                <a:gridCol w="278764"/>
                <a:gridCol w="278764"/>
                <a:gridCol w="278764"/>
                <a:gridCol w="278764"/>
                <a:gridCol w="278764"/>
                <a:gridCol w="278764"/>
                <a:gridCol w="278764"/>
                <a:gridCol w="278764"/>
                <a:gridCol w="278764"/>
                <a:gridCol w="278764"/>
                <a:gridCol w="278764"/>
                <a:gridCol w="278764"/>
              </a:tblGrid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12700">
                      <a:solidFill>
                        <a:srgbClr val="7E7E7E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12700">
                      <a:solidFill>
                        <a:srgbClr val="7E7E7E"/>
                      </a:solidFill>
                      <a:prstDash val="sysDot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E7E7E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550669" y="9693046"/>
            <a:ext cx="37763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latin typeface="ヒラギノ明朝 ProN W3"/>
                <a:cs typeface="ヒラギノ明朝 ProN W3"/>
              </a:rPr>
              <a:t>※※この書類のほか使用器具の概要がわかる資料を添付してください。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0"/>
            <a:ext cx="6858000" cy="360045"/>
          </a:xfrm>
          <a:custGeom>
            <a:avLst/>
            <a:gdLst/>
            <a:ahLst/>
            <a:cxnLst/>
            <a:rect l="l" t="t" r="r" b="b"/>
            <a:pathLst>
              <a:path w="6858000" h="360045">
                <a:moveTo>
                  <a:pt x="6858000" y="0"/>
                </a:moveTo>
                <a:lnTo>
                  <a:pt x="0" y="0"/>
                </a:lnTo>
                <a:lnTo>
                  <a:pt x="0" y="360045"/>
                </a:lnTo>
                <a:lnTo>
                  <a:pt x="6858000" y="360045"/>
                </a:lnTo>
                <a:lnTo>
                  <a:pt x="685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6173" y="65277"/>
            <a:ext cx="5699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solidFill>
                  <a:srgbClr val="FFFFFF"/>
                </a:solidFill>
                <a:latin typeface="ヒラギノ明朝 ProN W3"/>
                <a:cs typeface="ヒラギノ明朝 ProN W3"/>
              </a:rPr>
              <a:t>【書類提出先】  </a:t>
            </a:r>
            <a:r>
              <a:rPr dirty="0" sz="1400" spc="-250">
                <a:solidFill>
                  <a:srgbClr val="FFFFFF"/>
                </a:solidFill>
                <a:latin typeface="ヒラギノ明朝 ProN W3"/>
                <a:cs typeface="ヒラギノ明朝 ProN W3"/>
              </a:rPr>
              <a:t>㈱エイエイピー 担当：杉山•蜂屋 ＦＡＸ：０５４－２８４－６３３０</a:t>
            </a:r>
            <a:endParaRPr sz="14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997773" y="1427035"/>
          <a:ext cx="4796155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290"/>
                <a:gridCol w="1811020"/>
                <a:gridCol w="885825"/>
                <a:gridCol w="1197610"/>
              </a:tblGrid>
              <a:tr h="39624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050" spc="-15">
                          <a:latin typeface="ヒラギノ明朝 ProN W3"/>
                          <a:cs typeface="ヒラギノ明朝 ProN W3"/>
                        </a:rPr>
                        <a:t>出展者名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400"/>
                        </a:spcBef>
                      </a:pPr>
                      <a:r>
                        <a:rPr dirty="0" sz="1100" spc="-1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出展番号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900" spc="-44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9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主催者記入</a:t>
                      </a:r>
                      <a:r>
                        <a:rPr dirty="0" sz="900" spc="-5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080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5661278" y="475526"/>
            <a:ext cx="1080135" cy="817880"/>
          </a:xfrm>
          <a:custGeom>
            <a:avLst/>
            <a:gdLst/>
            <a:ahLst/>
            <a:cxnLst/>
            <a:rect l="l" t="t" r="r" b="b"/>
            <a:pathLst>
              <a:path w="1080134" h="817880">
                <a:moveTo>
                  <a:pt x="1080122" y="0"/>
                </a:moveTo>
                <a:lnTo>
                  <a:pt x="0" y="0"/>
                </a:lnTo>
                <a:lnTo>
                  <a:pt x="0" y="817841"/>
                </a:lnTo>
                <a:lnTo>
                  <a:pt x="1080122" y="817841"/>
                </a:lnTo>
                <a:lnTo>
                  <a:pt x="10801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743194" y="764446"/>
            <a:ext cx="919480" cy="47942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10/8</a:t>
            </a:r>
            <a:r>
              <a:rPr dirty="0" sz="1800" spc="-14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（</a:t>
            </a:r>
            <a:r>
              <a:rPr dirty="0" sz="1800" spc="-615">
                <a:solidFill>
                  <a:srgbClr val="FFFFFF"/>
                </a:solidFill>
                <a:latin typeface="ヒラギノ明朝 ProN W3"/>
                <a:cs typeface="ヒラギノ明朝 ProN W3"/>
              </a:rPr>
              <a:t>水</a:t>
            </a:r>
            <a:r>
              <a:rPr dirty="0" sz="1800" spc="-66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）</a:t>
            </a:r>
            <a:endParaRPr sz="1800">
              <a:latin typeface="ヒラギノ明朝 ProN W3"/>
              <a:cs typeface="ヒラギノ明朝 ProN W3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900" spc="-15">
                <a:solidFill>
                  <a:srgbClr val="FFFFFF"/>
                </a:solidFill>
                <a:latin typeface="ヒラギノ明朝 ProN W3"/>
                <a:cs typeface="ヒラギノ明朝 ProN W3"/>
              </a:rPr>
              <a:t>提出期限</a:t>
            </a:r>
            <a:endParaRPr sz="900">
              <a:latin typeface="ヒラギノ明朝 ProN W3"/>
              <a:cs typeface="ヒラギノ明朝 ProN W3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697728" y="544931"/>
            <a:ext cx="1007744" cy="221615"/>
            <a:chOff x="5697728" y="544931"/>
            <a:chExt cx="1007744" cy="221615"/>
          </a:xfrm>
        </p:grpSpPr>
        <p:sp>
          <p:nvSpPr>
            <p:cNvPr id="25" name="object 25"/>
            <p:cNvSpPr/>
            <p:nvPr/>
          </p:nvSpPr>
          <p:spPr>
            <a:xfrm>
              <a:off x="5710428" y="557631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981849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981849" y="196113"/>
                  </a:lnTo>
                  <a:lnTo>
                    <a:pt x="98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710428" y="557631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0" y="196113"/>
                  </a:moveTo>
                  <a:lnTo>
                    <a:pt x="981849" y="196113"/>
                  </a:lnTo>
                  <a:lnTo>
                    <a:pt x="981849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710428" y="557631"/>
            <a:ext cx="982344" cy="1962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223520">
              <a:lnSpc>
                <a:spcPct val="100000"/>
              </a:lnSpc>
              <a:spcBef>
                <a:spcPts val="170"/>
              </a:spcBef>
            </a:pPr>
            <a:r>
              <a:rPr dirty="0" sz="1050" spc="-15">
                <a:latin typeface="ヒラギノ明朝 ProN W3"/>
                <a:cs typeface="ヒラギノ明朝 ProN W3"/>
              </a:rPr>
              <a:t>全出展者</a:t>
            </a:r>
            <a:endParaRPr sz="1050">
              <a:latin typeface="ヒラギノ明朝 ProN W3"/>
              <a:cs typeface="ヒラギノ明朝 ProN W3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24325" y="483158"/>
            <a:ext cx="1537335" cy="806450"/>
          </a:xfrm>
          <a:custGeom>
            <a:avLst/>
            <a:gdLst/>
            <a:ahLst/>
            <a:cxnLst/>
            <a:rect l="l" t="t" r="r" b="b"/>
            <a:pathLst>
              <a:path w="1537335" h="806450">
                <a:moveTo>
                  <a:pt x="0" y="806399"/>
                </a:moveTo>
                <a:lnTo>
                  <a:pt x="1536953" y="806399"/>
                </a:lnTo>
                <a:lnTo>
                  <a:pt x="1536953" y="0"/>
                </a:lnTo>
                <a:lnTo>
                  <a:pt x="0" y="0"/>
                </a:lnTo>
                <a:lnTo>
                  <a:pt x="0" y="8063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133850" y="540766"/>
            <a:ext cx="1518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3709" marR="150495" indent="-312420">
              <a:lnSpc>
                <a:spcPct val="100000"/>
              </a:lnSpc>
              <a:spcBef>
                <a:spcPts val="100"/>
              </a:spcBef>
            </a:pPr>
            <a:r>
              <a:rPr dirty="0" sz="900" spc="-125">
                <a:latin typeface="ヒラギノ明朝 ProN W3"/>
                <a:cs typeface="ヒラギノ明朝 ProN W3"/>
              </a:rPr>
              <a:t>産業フェアしずおか</a:t>
            </a:r>
            <a:r>
              <a:rPr dirty="0" sz="900" spc="40">
                <a:latin typeface="Arial"/>
                <a:cs typeface="Arial"/>
              </a:rPr>
              <a:t>2025</a:t>
            </a:r>
            <a:r>
              <a:rPr dirty="0" sz="900" spc="-10">
                <a:latin typeface="ヒラギノ明朝 ProN W3"/>
                <a:cs typeface="ヒラギノ明朝 ProN W3"/>
              </a:rPr>
              <a:t>出展事務局</a:t>
            </a:r>
            <a:endParaRPr sz="900">
              <a:latin typeface="ヒラギノ明朝 ProN W3"/>
              <a:cs typeface="ヒラギノ明朝 ProN W3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33850" y="885824"/>
            <a:ext cx="15182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ts val="955"/>
              </a:lnSpc>
              <a:spcBef>
                <a:spcPts val="100"/>
              </a:spcBef>
            </a:pPr>
            <a:r>
              <a:rPr dirty="0" sz="800" spc="-125">
                <a:latin typeface="ヒラギノ明朝 ProN W3"/>
                <a:cs typeface="ヒラギノ明朝 ProN W3"/>
              </a:rPr>
              <a:t>㈱エイエイピー：杉山•蜂屋</a:t>
            </a:r>
            <a:endParaRPr sz="800">
              <a:latin typeface="ヒラギノ明朝 ProN W3"/>
              <a:cs typeface="ヒラギノ明朝 ProN W3"/>
            </a:endParaRPr>
          </a:p>
          <a:p>
            <a:pPr algn="ctr" marL="1905">
              <a:lnSpc>
                <a:spcPts val="835"/>
              </a:lnSpc>
            </a:pPr>
            <a:r>
              <a:rPr dirty="0" sz="700" spc="-90">
                <a:latin typeface="ヒラギノ明朝 ProN W3"/>
                <a:cs typeface="ヒラギノ明朝 ProN W3"/>
              </a:rPr>
              <a:t>ＦＡＸ：</a:t>
            </a:r>
            <a:r>
              <a:rPr dirty="0" sz="700" spc="-90">
                <a:latin typeface="Arial"/>
                <a:cs typeface="Arial"/>
              </a:rPr>
              <a:t>054-</a:t>
            </a:r>
            <a:r>
              <a:rPr dirty="0" sz="700" spc="70">
                <a:latin typeface="Arial"/>
                <a:cs typeface="Arial"/>
              </a:rPr>
              <a:t>284-</a:t>
            </a:r>
            <a:r>
              <a:rPr dirty="0" sz="700" spc="-20">
                <a:latin typeface="Arial"/>
                <a:cs typeface="Arial"/>
              </a:rPr>
              <a:t>6330</a:t>
            </a:r>
            <a:endParaRPr sz="7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700" spc="60">
                <a:latin typeface="Arial"/>
                <a:cs typeface="Arial"/>
                <a:hlinkClick r:id="rId7"/>
              </a:rPr>
              <a:t>sf-</a:t>
            </a:r>
            <a:r>
              <a:rPr dirty="0" sz="700" spc="-10">
                <a:latin typeface="Arial"/>
                <a:cs typeface="Arial"/>
                <a:hlinkClick r:id="rId7"/>
              </a:rPr>
              <a:t>shizuoka2025@aap-jim.com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33850" y="859155"/>
            <a:ext cx="1487805" cy="0"/>
          </a:xfrm>
          <a:custGeom>
            <a:avLst/>
            <a:gdLst/>
            <a:ahLst/>
            <a:cxnLst/>
            <a:rect l="l" t="t" r="r" b="b"/>
            <a:pathLst>
              <a:path w="1487804" h="0">
                <a:moveTo>
                  <a:pt x="0" y="0"/>
                </a:moveTo>
                <a:lnTo>
                  <a:pt x="148780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4633" y="449712"/>
            <a:ext cx="2071370" cy="84709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-175">
                <a:latin typeface="ヒラギノ明朝 ProN W3"/>
                <a:cs typeface="ヒラギノ明朝 ProN W3"/>
              </a:rPr>
              <a:t>提出書類 【３】</a:t>
            </a:r>
            <a:endParaRPr sz="1000">
              <a:latin typeface="ヒラギノ明朝 ProN W3"/>
              <a:cs typeface="ヒラギノ明朝 ProN W3"/>
            </a:endParaRPr>
          </a:p>
          <a:p>
            <a:pPr marL="403225" marR="5080" indent="-382905">
              <a:lnSpc>
                <a:spcPct val="100000"/>
              </a:lnSpc>
              <a:spcBef>
                <a:spcPts val="315"/>
              </a:spcBef>
            </a:pPr>
            <a:r>
              <a:rPr dirty="0" sz="2000" spc="-75">
                <a:latin typeface="ヒラギノ明朝 ProN W3"/>
                <a:cs typeface="ヒラギノ明朝 ProN W3"/>
              </a:rPr>
              <a:t>電気•火気•危険物</a:t>
            </a:r>
            <a:r>
              <a:rPr dirty="0" sz="2000" spc="-10">
                <a:latin typeface="ヒラギノ明朝 ProN W3"/>
                <a:cs typeface="ヒラギノ明朝 ProN W3"/>
              </a:rPr>
              <a:t>使用申請書</a:t>
            </a:r>
            <a:endParaRPr sz="2000">
              <a:latin typeface="ヒラギノ明朝 ProN W3"/>
              <a:cs typeface="ヒラギノ明朝 ProN W3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361" y="1921255"/>
            <a:ext cx="216001" cy="2160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8442" y="1381125"/>
            <a:ext cx="1499870" cy="748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latin typeface="ヒラギノ明朝 ProN W3"/>
                <a:cs typeface="ヒラギノ明朝 ProN W3"/>
              </a:rPr>
              <a:t>使用の有無について</a:t>
            </a:r>
            <a:r>
              <a:rPr dirty="0" sz="1200" spc="500">
                <a:latin typeface="ヒラギノ明朝 ProN W3"/>
                <a:cs typeface="ヒラギノ明朝 ProN W3"/>
              </a:rPr>
              <a:t> </a:t>
            </a:r>
            <a:r>
              <a:rPr dirty="0" sz="1200" spc="-180">
                <a:latin typeface="ヒラギノ明朝 ProN W3"/>
                <a:cs typeface="ヒラギノ明朝 ProN W3"/>
              </a:rPr>
              <a:t>必ず✓をお願いします。</a:t>
            </a:r>
            <a:endParaRPr sz="1200">
              <a:latin typeface="ヒラギノ明朝 ProN W3"/>
              <a:cs typeface="ヒラギノ明朝 ProN W3"/>
            </a:endParaRPr>
          </a:p>
          <a:p>
            <a:pPr marL="121920">
              <a:lnSpc>
                <a:spcPct val="100000"/>
              </a:lnSpc>
              <a:spcBef>
                <a:spcPts val="1375"/>
              </a:spcBef>
            </a:pPr>
            <a:r>
              <a:rPr dirty="0" sz="1050" spc="-2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１  </a:t>
            </a:r>
            <a:r>
              <a:rPr dirty="0" sz="1200" spc="-25">
                <a:latin typeface="ヒラギノ明朝 ProN W3"/>
                <a:cs typeface="ヒラギノ明朝 ProN W3"/>
              </a:rPr>
              <a:t>電気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7924" y="2178113"/>
          <a:ext cx="6474460" cy="874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1847850"/>
                <a:gridCol w="885825"/>
                <a:gridCol w="381000"/>
                <a:gridCol w="1981200"/>
                <a:gridCol w="930910"/>
              </a:tblGrid>
              <a:tr h="174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45">
                          <a:latin typeface="ヒラギノ明朝 ProN W3"/>
                          <a:cs typeface="ヒラギノ明朝 ProN W3"/>
                        </a:rPr>
                        <a:t>電気の使用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144905" algn="l"/>
                        </a:tabLst>
                      </a:pP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有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使用機器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容量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15">
                          <a:latin typeface="ヒラギノ明朝 ProN W3"/>
                          <a:cs typeface="ヒラギノ明朝 ProN W3"/>
                        </a:rPr>
                        <a:t>使用機器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容量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130">
                          <a:latin typeface="ヒラギノ明朝 ProN W3"/>
                          <a:cs typeface="ヒラギノ明朝 ProN W3"/>
                        </a:rPr>
                        <a:t>電気ポット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0">
                          <a:latin typeface="ヒラギノ明朝 ProN W3"/>
                          <a:cs typeface="ヒラギノ明朝 ProN W3"/>
                        </a:rPr>
                        <a:t>ホットプレート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1.3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65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ｋｗ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511" y="3218052"/>
            <a:ext cx="216001" cy="21602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8053" y="3218815"/>
            <a:ext cx="1279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２  </a:t>
            </a:r>
            <a:r>
              <a:rPr dirty="0" sz="1200" spc="-50">
                <a:latin typeface="ヒラギノ明朝 ProN W3"/>
                <a:cs typeface="ヒラギノ明朝 ProN W3"/>
              </a:rPr>
              <a:t>持ち込み危険物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8074" y="3484435"/>
          <a:ext cx="6474460" cy="1050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1847850"/>
                <a:gridCol w="3248025"/>
                <a:gridCol w="930910"/>
              </a:tblGrid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51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55">
                          <a:latin typeface="ヒラギノ明朝 ProN W3"/>
                          <a:cs typeface="ヒラギノ明朝 ProN W3"/>
                        </a:rPr>
                        <a:t>危険物の持ち込み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144905" algn="l"/>
                        </a:tabLst>
                      </a:pP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有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品名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用途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60">
                          <a:latin typeface="ヒラギノ明朝 ProN W3"/>
                          <a:cs typeface="ヒラギノ明朝 ProN W3"/>
                        </a:rPr>
                        <a:t>持ち込み量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90">
                          <a:latin typeface="ヒラギノ明朝 ProN W3"/>
                          <a:cs typeface="ヒラギノ明朝 ProN W3"/>
                        </a:rPr>
                        <a:t>サラダ油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0">
                          <a:latin typeface="ヒラギノ明朝 ProN W3"/>
                          <a:cs typeface="ヒラギノ明朝 ProN W3"/>
                        </a:rPr>
                        <a:t>調理用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21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70">
                          <a:latin typeface="ヒラギノ明朝 ProN W3"/>
                          <a:cs typeface="ヒラギノ明朝 ProN W3"/>
                        </a:rPr>
                        <a:t>リットル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934" y="4610100"/>
            <a:ext cx="216001" cy="2160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3235" y="4610861"/>
            <a:ext cx="849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３  </a:t>
            </a:r>
            <a:r>
              <a:rPr dirty="0" sz="1200" spc="-15">
                <a:latin typeface="ヒラギノ明朝 ProN W3"/>
                <a:cs typeface="ヒラギノ明朝 ProN W3"/>
              </a:rPr>
              <a:t>火気使用</a:t>
            </a:r>
            <a:endParaRPr sz="12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3496" y="4933505"/>
          <a:ext cx="6474460" cy="1050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/>
                <a:gridCol w="1847850"/>
                <a:gridCol w="3248025"/>
                <a:gridCol w="930910"/>
              </a:tblGrid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45">
                          <a:latin typeface="ヒラギノ明朝 ProN W3"/>
                          <a:cs typeface="ヒラギノ明朝 ProN W3"/>
                        </a:rPr>
                        <a:t>火気の使用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1145540" algn="l"/>
                        </a:tabLst>
                      </a:pP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有</a:t>
                      </a:r>
                      <a:r>
                        <a:rPr dirty="0" sz="900">
                          <a:latin typeface="ヒラギノ明朝 ProN W3"/>
                          <a:cs typeface="ヒラギノ明朝 ProN W3"/>
                        </a:rPr>
                        <a:t>	□</a:t>
                      </a: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無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34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品名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ヒラギノ明朝 ProN W3"/>
                          <a:cs typeface="ヒラギノ明朝 ProN W3"/>
                        </a:rPr>
                        <a:t>用途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60">
                          <a:latin typeface="ヒラギノ明朝 ProN W3"/>
                          <a:cs typeface="ヒラギノ明朝 ProN W3"/>
                        </a:rPr>
                        <a:t>熱量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kcal</a:t>
                      </a:r>
                      <a:r>
                        <a:rPr dirty="0" sz="900" spc="-10"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35">
                          <a:latin typeface="ヒラギノ明朝 ProN W3"/>
                          <a:cs typeface="ヒラギノ明朝 ProN W3"/>
                        </a:rPr>
                        <a:t>ガスコンロ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25">
                          <a:latin typeface="ヒラギノ明朝 ProN W3"/>
                          <a:cs typeface="ヒラギノ明朝 ProN W3"/>
                        </a:rPr>
                        <a:t>おしるこ調理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2500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25">
                          <a:latin typeface="ヒラギノ明朝 ProN W3"/>
                          <a:cs typeface="ヒラギノ明朝 ProN W3"/>
                        </a:rPr>
                        <a:t>ホットプレート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75">
                          <a:latin typeface="ヒラギノ明朝 ProN W3"/>
                          <a:cs typeface="ヒラギノ明朝 ProN W3"/>
                        </a:rPr>
                        <a:t>パンケーキ調理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2000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5">
                          <a:latin typeface="Arial"/>
                          <a:cs typeface="Arial"/>
                        </a:rPr>
                        <a:t>04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900" spc="-20">
                          <a:latin typeface="Arial"/>
                          <a:cs typeface="Arial"/>
                        </a:rPr>
                        <a:t>kcal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499361" y="4672965"/>
            <a:ext cx="43776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latin typeface="ヒラギノ明朝 ProN W3"/>
                <a:cs typeface="ヒラギノ明朝 ProN W3"/>
              </a:rPr>
              <a:t>※炭等は会場内許可総量の都合上、容量を制限させていただく場合がございます。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2414" y="6273165"/>
            <a:ext cx="6180455" cy="81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6944" sz="1800" spc="-262">
                <a:latin typeface="ヒラギノ明朝 ProN W3"/>
                <a:cs typeface="ヒラギノ明朝 ProN W3"/>
              </a:rPr>
              <a:t>ブース内レイアウト </a:t>
            </a:r>
            <a:r>
              <a:rPr dirty="0" sz="1000" spc="-180">
                <a:latin typeface="ヒラギノ明朝 ProN W3"/>
                <a:cs typeface="ヒラギノ明朝 ProN W3"/>
              </a:rPr>
              <a:t>コンセント、テーブル、イス等の備品、火気類の使用場所などの位置を図解にてご記入ください。</a:t>
            </a:r>
            <a:endParaRPr sz="1000">
              <a:latin typeface="ヒラギノ明朝 ProN W3"/>
              <a:cs typeface="ヒラギノ明朝 ProN W3"/>
            </a:endParaRPr>
          </a:p>
          <a:p>
            <a:pPr marL="170815" marR="162560" indent="-83820">
              <a:lnSpc>
                <a:spcPct val="100000"/>
              </a:lnSpc>
              <a:spcBef>
                <a:spcPts val="850"/>
              </a:spcBef>
            </a:pPr>
            <a:r>
              <a:rPr dirty="0" sz="1000" spc="-145">
                <a:latin typeface="ヒラギノ明朝 ProN W3"/>
                <a:cs typeface="ヒラギノ明朝 ProN W3"/>
              </a:rPr>
              <a:t>◎こちらの書類は消防書に提出いたします。使用器具ごとの使用熱量</a:t>
            </a:r>
            <a:r>
              <a:rPr dirty="0" sz="1000" spc="-360">
                <a:latin typeface="ヒラギノ明朝 ProN W3"/>
                <a:cs typeface="ヒラギノ明朝 ProN W3"/>
              </a:rPr>
              <a:t>（ｋ</a:t>
            </a:r>
            <a:r>
              <a:rPr dirty="0" sz="1000" spc="-360">
                <a:latin typeface="Arial"/>
                <a:cs typeface="Arial"/>
              </a:rPr>
              <a:t>c</a:t>
            </a:r>
            <a:r>
              <a:rPr dirty="0" sz="1000" spc="-360">
                <a:latin typeface="ヒラギノ明朝 ProN W3"/>
                <a:cs typeface="ヒラギノ明朝 ProN W3"/>
              </a:rPr>
              <a:t>ａｌ）</a:t>
            </a:r>
            <a:r>
              <a:rPr dirty="0" sz="1000" spc="-125">
                <a:latin typeface="ヒラギノ明朝 ProN W3"/>
                <a:cs typeface="ヒラギノ明朝 ProN W3"/>
              </a:rPr>
              <a:t>、電気容量</a:t>
            </a:r>
            <a:r>
              <a:rPr dirty="0" sz="1000" spc="-320">
                <a:latin typeface="ヒラギノ明朝 ProN W3"/>
                <a:cs typeface="ヒラギノ明朝 ProN W3"/>
              </a:rPr>
              <a:t>（ｋｗ）</a:t>
            </a:r>
            <a:r>
              <a:rPr dirty="0" sz="1000" spc="-135">
                <a:latin typeface="ヒラギノ明朝 ProN W3"/>
                <a:cs typeface="ヒラギノ明朝 ProN W3"/>
              </a:rPr>
              <a:t>、消火器、給排水、</a:t>
            </a:r>
            <a:r>
              <a:rPr dirty="0" sz="1000" spc="-165">
                <a:latin typeface="ヒラギノ明朝 ProN W3"/>
                <a:cs typeface="ヒラギノ明朝 ProN W3"/>
              </a:rPr>
              <a:t>オプション備品の設置位置を確実にご記入ください。</a:t>
            </a:r>
            <a:r>
              <a:rPr dirty="0" sz="1000" spc="-430">
                <a:latin typeface="ヒラギノ明朝 ProN W3"/>
                <a:cs typeface="ヒラギノ明朝 ProN W3"/>
              </a:rPr>
              <a:t>（</a:t>
            </a:r>
            <a:r>
              <a:rPr dirty="0" sz="1000" spc="-114">
                <a:latin typeface="ヒラギノ明朝 ProN W3"/>
                <a:cs typeface="ヒラギノ明朝 ProN W3"/>
              </a:rPr>
              <a:t>裸火使用の場合は別途器具の仕様書をご提出ください</a:t>
            </a:r>
            <a:r>
              <a:rPr dirty="0" sz="1000" spc="-560">
                <a:latin typeface="ヒラギノ明朝 ProN W3"/>
                <a:cs typeface="ヒラギノ明朝 ProN W3"/>
              </a:rPr>
              <a:t>）</a:t>
            </a:r>
            <a:endParaRPr sz="1000">
              <a:latin typeface="ヒラギノ明朝 ProN W3"/>
              <a:cs typeface="ヒラギノ明朝 ProN W3"/>
            </a:endParaRPr>
          </a:p>
          <a:p>
            <a:pPr marL="8699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ヒラギノ明朝 ProN W3"/>
                <a:cs typeface="ヒラギノ明朝 ProN W3"/>
              </a:rPr>
              <a:t>◎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160">
                <a:latin typeface="ヒラギノ明朝 ProN W3"/>
                <a:cs typeface="ヒラギノ明朝 ProN W3"/>
              </a:rPr>
              <a:t>コマ使用の場合、または隣接ブースと協議の上、壁を取り外す場合には必ずご記入ください。</a:t>
            </a:r>
            <a:endParaRPr sz="1000">
              <a:latin typeface="ヒラギノ明朝 ProN W3"/>
              <a:cs typeface="ヒラギノ明朝 ProN W3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934" y="6290564"/>
            <a:ext cx="216001" cy="2160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83235" y="6310122"/>
            <a:ext cx="12636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31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３</a:t>
            </a:r>
            <a:endParaRPr sz="1050">
              <a:latin typeface="ヒラギノ明朝 ProN W3"/>
              <a:cs typeface="ヒラギノ明朝 ProN W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82288" y="9728403"/>
            <a:ext cx="26993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80">
                <a:latin typeface="ヒラギノ明朝 ProN W3"/>
                <a:cs typeface="ヒラギノ明朝 ProN W3"/>
              </a:rPr>
              <a:t>※火気を使用する場合、消火器の設置が義務付けられています</a:t>
            </a:r>
            <a:endParaRPr sz="800">
              <a:latin typeface="ヒラギノ明朝 ProN W3"/>
              <a:cs typeface="ヒラギノ明朝 ProN W3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87546" y="2218944"/>
            <a:ext cx="104266" cy="10883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68622" y="3521709"/>
            <a:ext cx="104139" cy="108965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756791" y="8455025"/>
            <a:ext cx="1776730" cy="894080"/>
            <a:chOff x="1756791" y="8455025"/>
            <a:chExt cx="1776730" cy="894080"/>
          </a:xfrm>
        </p:grpSpPr>
        <p:sp>
          <p:nvSpPr>
            <p:cNvPr id="20" name="object 20"/>
            <p:cNvSpPr/>
            <p:nvPr/>
          </p:nvSpPr>
          <p:spPr>
            <a:xfrm>
              <a:off x="1756791" y="8904439"/>
              <a:ext cx="1776730" cy="444500"/>
            </a:xfrm>
            <a:custGeom>
              <a:avLst/>
              <a:gdLst/>
              <a:ahLst/>
              <a:cxnLst/>
              <a:rect l="l" t="t" r="r" b="b"/>
              <a:pathLst>
                <a:path w="1776729" h="444500">
                  <a:moveTo>
                    <a:pt x="1776730" y="0"/>
                  </a:moveTo>
                  <a:lnTo>
                    <a:pt x="0" y="0"/>
                  </a:lnTo>
                  <a:lnTo>
                    <a:pt x="0" y="444182"/>
                  </a:lnTo>
                  <a:lnTo>
                    <a:pt x="1776730" y="444182"/>
                  </a:lnTo>
                  <a:lnTo>
                    <a:pt x="1776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70583" y="8962224"/>
              <a:ext cx="567055" cy="328930"/>
            </a:xfrm>
            <a:custGeom>
              <a:avLst/>
              <a:gdLst/>
              <a:ahLst/>
              <a:cxnLst/>
              <a:rect l="l" t="t" r="r" b="b"/>
              <a:pathLst>
                <a:path w="567055" h="328929">
                  <a:moveTo>
                    <a:pt x="512064" y="0"/>
                  </a:moveTo>
                  <a:lnTo>
                    <a:pt x="54737" y="0"/>
                  </a:lnTo>
                  <a:lnTo>
                    <a:pt x="33432" y="4304"/>
                  </a:lnTo>
                  <a:lnTo>
                    <a:pt x="16033" y="16043"/>
                  </a:lnTo>
                  <a:lnTo>
                    <a:pt x="4302" y="33454"/>
                  </a:lnTo>
                  <a:lnTo>
                    <a:pt x="0" y="54775"/>
                  </a:lnTo>
                  <a:lnTo>
                    <a:pt x="0" y="273837"/>
                  </a:lnTo>
                  <a:lnTo>
                    <a:pt x="4302" y="295158"/>
                  </a:lnTo>
                  <a:lnTo>
                    <a:pt x="16033" y="312569"/>
                  </a:lnTo>
                  <a:lnTo>
                    <a:pt x="33432" y="324307"/>
                  </a:lnTo>
                  <a:lnTo>
                    <a:pt x="54737" y="328612"/>
                  </a:lnTo>
                  <a:lnTo>
                    <a:pt x="512064" y="328612"/>
                  </a:lnTo>
                  <a:lnTo>
                    <a:pt x="533368" y="324307"/>
                  </a:lnTo>
                  <a:lnTo>
                    <a:pt x="550767" y="312569"/>
                  </a:lnTo>
                  <a:lnTo>
                    <a:pt x="562498" y="295158"/>
                  </a:lnTo>
                  <a:lnTo>
                    <a:pt x="566801" y="273837"/>
                  </a:lnTo>
                  <a:lnTo>
                    <a:pt x="566801" y="54775"/>
                  </a:lnTo>
                  <a:lnTo>
                    <a:pt x="562498" y="33454"/>
                  </a:lnTo>
                  <a:lnTo>
                    <a:pt x="550767" y="16043"/>
                  </a:lnTo>
                  <a:lnTo>
                    <a:pt x="533368" y="4304"/>
                  </a:lnTo>
                  <a:lnTo>
                    <a:pt x="512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90800" y="8467725"/>
              <a:ext cx="438150" cy="400050"/>
            </a:xfrm>
            <a:custGeom>
              <a:avLst/>
              <a:gdLst/>
              <a:ahLst/>
              <a:cxnLst/>
              <a:rect l="l" t="t" r="r" b="b"/>
              <a:pathLst>
                <a:path w="438150" h="400050">
                  <a:moveTo>
                    <a:pt x="371475" y="0"/>
                  </a:moveTo>
                  <a:lnTo>
                    <a:pt x="66675" y="0"/>
                  </a:lnTo>
                  <a:lnTo>
                    <a:pt x="40719" y="5238"/>
                  </a:lnTo>
                  <a:lnTo>
                    <a:pt x="19526" y="19526"/>
                  </a:lnTo>
                  <a:lnTo>
                    <a:pt x="5238" y="40719"/>
                  </a:lnTo>
                  <a:lnTo>
                    <a:pt x="0" y="66675"/>
                  </a:lnTo>
                  <a:lnTo>
                    <a:pt x="0" y="333375"/>
                  </a:lnTo>
                  <a:lnTo>
                    <a:pt x="5238" y="359325"/>
                  </a:lnTo>
                  <a:lnTo>
                    <a:pt x="19526" y="380518"/>
                  </a:lnTo>
                  <a:lnTo>
                    <a:pt x="40719" y="394809"/>
                  </a:lnTo>
                  <a:lnTo>
                    <a:pt x="66675" y="400050"/>
                  </a:lnTo>
                  <a:lnTo>
                    <a:pt x="371475" y="400050"/>
                  </a:lnTo>
                  <a:lnTo>
                    <a:pt x="397430" y="394809"/>
                  </a:lnTo>
                  <a:lnTo>
                    <a:pt x="418623" y="380518"/>
                  </a:lnTo>
                  <a:lnTo>
                    <a:pt x="432911" y="359325"/>
                  </a:lnTo>
                  <a:lnTo>
                    <a:pt x="438150" y="333375"/>
                  </a:lnTo>
                  <a:lnTo>
                    <a:pt x="438150" y="66675"/>
                  </a:lnTo>
                  <a:lnTo>
                    <a:pt x="432911" y="40719"/>
                  </a:lnTo>
                  <a:lnTo>
                    <a:pt x="418623" y="19526"/>
                  </a:lnTo>
                  <a:lnTo>
                    <a:pt x="397430" y="5238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590800" y="8467725"/>
              <a:ext cx="438150" cy="400050"/>
            </a:xfrm>
            <a:custGeom>
              <a:avLst/>
              <a:gdLst/>
              <a:ahLst/>
              <a:cxnLst/>
              <a:rect l="l" t="t" r="r" b="b"/>
              <a:pathLst>
                <a:path w="438150" h="400050">
                  <a:moveTo>
                    <a:pt x="0" y="66675"/>
                  </a:moveTo>
                  <a:lnTo>
                    <a:pt x="5238" y="40719"/>
                  </a:lnTo>
                  <a:lnTo>
                    <a:pt x="19526" y="19526"/>
                  </a:lnTo>
                  <a:lnTo>
                    <a:pt x="40719" y="5238"/>
                  </a:lnTo>
                  <a:lnTo>
                    <a:pt x="66675" y="0"/>
                  </a:lnTo>
                  <a:lnTo>
                    <a:pt x="371475" y="0"/>
                  </a:lnTo>
                  <a:lnTo>
                    <a:pt x="397430" y="5238"/>
                  </a:lnTo>
                  <a:lnTo>
                    <a:pt x="418623" y="19526"/>
                  </a:lnTo>
                  <a:lnTo>
                    <a:pt x="432911" y="40719"/>
                  </a:lnTo>
                  <a:lnTo>
                    <a:pt x="438150" y="66675"/>
                  </a:lnTo>
                  <a:lnTo>
                    <a:pt x="438150" y="333375"/>
                  </a:lnTo>
                  <a:lnTo>
                    <a:pt x="432911" y="359325"/>
                  </a:lnTo>
                  <a:lnTo>
                    <a:pt x="418623" y="380518"/>
                  </a:lnTo>
                  <a:lnTo>
                    <a:pt x="397430" y="394809"/>
                  </a:lnTo>
                  <a:lnTo>
                    <a:pt x="371475" y="400050"/>
                  </a:lnTo>
                  <a:lnTo>
                    <a:pt x="66675" y="400050"/>
                  </a:lnTo>
                  <a:lnTo>
                    <a:pt x="40719" y="394809"/>
                  </a:lnTo>
                  <a:lnTo>
                    <a:pt x="19526" y="380518"/>
                  </a:lnTo>
                  <a:lnTo>
                    <a:pt x="5238" y="359325"/>
                  </a:lnTo>
                  <a:lnTo>
                    <a:pt x="0" y="333375"/>
                  </a:lnTo>
                  <a:lnTo>
                    <a:pt x="0" y="666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1141920" y="7448562"/>
            <a:ext cx="444500" cy="1776730"/>
            <a:chOff x="1141920" y="7448562"/>
            <a:chExt cx="444500" cy="1776730"/>
          </a:xfrm>
        </p:grpSpPr>
        <p:sp>
          <p:nvSpPr>
            <p:cNvPr id="25" name="object 25"/>
            <p:cNvSpPr/>
            <p:nvPr/>
          </p:nvSpPr>
          <p:spPr>
            <a:xfrm>
              <a:off x="1141920" y="7448562"/>
              <a:ext cx="444500" cy="1776730"/>
            </a:xfrm>
            <a:custGeom>
              <a:avLst/>
              <a:gdLst/>
              <a:ahLst/>
              <a:cxnLst/>
              <a:rect l="l" t="t" r="r" b="b"/>
              <a:pathLst>
                <a:path w="444500" h="1776729">
                  <a:moveTo>
                    <a:pt x="444182" y="0"/>
                  </a:moveTo>
                  <a:lnTo>
                    <a:pt x="0" y="0"/>
                  </a:lnTo>
                  <a:lnTo>
                    <a:pt x="0" y="1776730"/>
                  </a:lnTo>
                  <a:lnTo>
                    <a:pt x="444182" y="1776730"/>
                  </a:lnTo>
                  <a:lnTo>
                    <a:pt x="4441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85392" y="7496174"/>
              <a:ext cx="357505" cy="361950"/>
            </a:xfrm>
            <a:custGeom>
              <a:avLst/>
              <a:gdLst/>
              <a:ahLst/>
              <a:cxnLst/>
              <a:rect l="l" t="t" r="r" b="b"/>
              <a:pathLst>
                <a:path w="357505" h="361950">
                  <a:moveTo>
                    <a:pt x="178587" y="0"/>
                  </a:moveTo>
                  <a:lnTo>
                    <a:pt x="131117" y="6464"/>
                  </a:lnTo>
                  <a:lnTo>
                    <a:pt x="88457" y="24708"/>
                  </a:lnTo>
                  <a:lnTo>
                    <a:pt x="52312" y="53006"/>
                  </a:lnTo>
                  <a:lnTo>
                    <a:pt x="24385" y="89633"/>
                  </a:lnTo>
                  <a:lnTo>
                    <a:pt x="6380" y="132864"/>
                  </a:lnTo>
                  <a:lnTo>
                    <a:pt x="0" y="180975"/>
                  </a:lnTo>
                  <a:lnTo>
                    <a:pt x="6380" y="229085"/>
                  </a:lnTo>
                  <a:lnTo>
                    <a:pt x="24385" y="272316"/>
                  </a:lnTo>
                  <a:lnTo>
                    <a:pt x="52312" y="308943"/>
                  </a:lnTo>
                  <a:lnTo>
                    <a:pt x="88457" y="337241"/>
                  </a:lnTo>
                  <a:lnTo>
                    <a:pt x="131117" y="355485"/>
                  </a:lnTo>
                  <a:lnTo>
                    <a:pt x="178587" y="361950"/>
                  </a:lnTo>
                  <a:lnTo>
                    <a:pt x="226087" y="355485"/>
                  </a:lnTo>
                  <a:lnTo>
                    <a:pt x="268771" y="337241"/>
                  </a:lnTo>
                  <a:lnTo>
                    <a:pt x="304936" y="308943"/>
                  </a:lnTo>
                  <a:lnTo>
                    <a:pt x="332878" y="272316"/>
                  </a:lnTo>
                  <a:lnTo>
                    <a:pt x="350892" y="229085"/>
                  </a:lnTo>
                  <a:lnTo>
                    <a:pt x="357276" y="180975"/>
                  </a:lnTo>
                  <a:lnTo>
                    <a:pt x="350892" y="132864"/>
                  </a:lnTo>
                  <a:lnTo>
                    <a:pt x="332878" y="89633"/>
                  </a:lnTo>
                  <a:lnTo>
                    <a:pt x="304936" y="53006"/>
                  </a:lnTo>
                  <a:lnTo>
                    <a:pt x="268771" y="24708"/>
                  </a:lnTo>
                  <a:lnTo>
                    <a:pt x="226087" y="6464"/>
                  </a:lnTo>
                  <a:lnTo>
                    <a:pt x="1785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85392" y="7496174"/>
              <a:ext cx="357505" cy="361950"/>
            </a:xfrm>
            <a:custGeom>
              <a:avLst/>
              <a:gdLst/>
              <a:ahLst/>
              <a:cxnLst/>
              <a:rect l="l" t="t" r="r" b="b"/>
              <a:pathLst>
                <a:path w="357505" h="361950">
                  <a:moveTo>
                    <a:pt x="0" y="180975"/>
                  </a:moveTo>
                  <a:lnTo>
                    <a:pt x="6380" y="132864"/>
                  </a:lnTo>
                  <a:lnTo>
                    <a:pt x="24385" y="89633"/>
                  </a:lnTo>
                  <a:lnTo>
                    <a:pt x="52312" y="53006"/>
                  </a:lnTo>
                  <a:lnTo>
                    <a:pt x="88457" y="24708"/>
                  </a:lnTo>
                  <a:lnTo>
                    <a:pt x="131117" y="6464"/>
                  </a:lnTo>
                  <a:lnTo>
                    <a:pt x="178587" y="0"/>
                  </a:lnTo>
                  <a:lnTo>
                    <a:pt x="226087" y="6464"/>
                  </a:lnTo>
                  <a:lnTo>
                    <a:pt x="268771" y="24708"/>
                  </a:lnTo>
                  <a:lnTo>
                    <a:pt x="304936" y="53006"/>
                  </a:lnTo>
                  <a:lnTo>
                    <a:pt x="332878" y="89633"/>
                  </a:lnTo>
                  <a:lnTo>
                    <a:pt x="350892" y="132864"/>
                  </a:lnTo>
                  <a:lnTo>
                    <a:pt x="357276" y="180975"/>
                  </a:lnTo>
                  <a:lnTo>
                    <a:pt x="350892" y="229085"/>
                  </a:lnTo>
                  <a:lnTo>
                    <a:pt x="332878" y="272316"/>
                  </a:lnTo>
                  <a:lnTo>
                    <a:pt x="304936" y="308943"/>
                  </a:lnTo>
                  <a:lnTo>
                    <a:pt x="268771" y="337241"/>
                  </a:lnTo>
                  <a:lnTo>
                    <a:pt x="226087" y="355485"/>
                  </a:lnTo>
                  <a:lnTo>
                    <a:pt x="178587" y="361950"/>
                  </a:lnTo>
                  <a:lnTo>
                    <a:pt x="131117" y="355485"/>
                  </a:lnTo>
                  <a:lnTo>
                    <a:pt x="88457" y="337241"/>
                  </a:lnTo>
                  <a:lnTo>
                    <a:pt x="52312" y="308943"/>
                  </a:lnTo>
                  <a:lnTo>
                    <a:pt x="24385" y="272316"/>
                  </a:lnTo>
                  <a:lnTo>
                    <a:pt x="6380" y="22908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864100" y="7540625"/>
            <a:ext cx="382905" cy="387350"/>
            <a:chOff x="4864100" y="7540625"/>
            <a:chExt cx="382905" cy="387350"/>
          </a:xfrm>
        </p:grpSpPr>
        <p:sp>
          <p:nvSpPr>
            <p:cNvPr id="29" name="object 29"/>
            <p:cNvSpPr/>
            <p:nvPr/>
          </p:nvSpPr>
          <p:spPr>
            <a:xfrm>
              <a:off x="4876800" y="7553325"/>
              <a:ext cx="357505" cy="361950"/>
            </a:xfrm>
            <a:custGeom>
              <a:avLst/>
              <a:gdLst/>
              <a:ahLst/>
              <a:cxnLst/>
              <a:rect l="l" t="t" r="r" b="b"/>
              <a:pathLst>
                <a:path w="357504" h="361950">
                  <a:moveTo>
                    <a:pt x="178688" y="0"/>
                  </a:moveTo>
                  <a:lnTo>
                    <a:pt x="131189" y="6464"/>
                  </a:lnTo>
                  <a:lnTo>
                    <a:pt x="88504" y="24708"/>
                  </a:lnTo>
                  <a:lnTo>
                    <a:pt x="52339" y="53006"/>
                  </a:lnTo>
                  <a:lnTo>
                    <a:pt x="24398" y="89633"/>
                  </a:lnTo>
                  <a:lnTo>
                    <a:pt x="6383" y="132864"/>
                  </a:lnTo>
                  <a:lnTo>
                    <a:pt x="0" y="180975"/>
                  </a:lnTo>
                  <a:lnTo>
                    <a:pt x="6383" y="229085"/>
                  </a:lnTo>
                  <a:lnTo>
                    <a:pt x="24398" y="272316"/>
                  </a:lnTo>
                  <a:lnTo>
                    <a:pt x="52339" y="308943"/>
                  </a:lnTo>
                  <a:lnTo>
                    <a:pt x="88504" y="337241"/>
                  </a:lnTo>
                  <a:lnTo>
                    <a:pt x="131189" y="355485"/>
                  </a:lnTo>
                  <a:lnTo>
                    <a:pt x="178688" y="361950"/>
                  </a:lnTo>
                  <a:lnTo>
                    <a:pt x="226135" y="355485"/>
                  </a:lnTo>
                  <a:lnTo>
                    <a:pt x="268783" y="337241"/>
                  </a:lnTo>
                  <a:lnTo>
                    <a:pt x="304927" y="308943"/>
                  </a:lnTo>
                  <a:lnTo>
                    <a:pt x="332857" y="272316"/>
                  </a:lnTo>
                  <a:lnTo>
                    <a:pt x="350868" y="229085"/>
                  </a:lnTo>
                  <a:lnTo>
                    <a:pt x="357250" y="180975"/>
                  </a:lnTo>
                  <a:lnTo>
                    <a:pt x="350868" y="132864"/>
                  </a:lnTo>
                  <a:lnTo>
                    <a:pt x="332857" y="89633"/>
                  </a:lnTo>
                  <a:lnTo>
                    <a:pt x="304926" y="53006"/>
                  </a:lnTo>
                  <a:lnTo>
                    <a:pt x="268783" y="24708"/>
                  </a:lnTo>
                  <a:lnTo>
                    <a:pt x="226135" y="6464"/>
                  </a:lnTo>
                  <a:lnTo>
                    <a:pt x="178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76800" y="7553325"/>
              <a:ext cx="357505" cy="361950"/>
            </a:xfrm>
            <a:custGeom>
              <a:avLst/>
              <a:gdLst/>
              <a:ahLst/>
              <a:cxnLst/>
              <a:rect l="l" t="t" r="r" b="b"/>
              <a:pathLst>
                <a:path w="357504" h="361950">
                  <a:moveTo>
                    <a:pt x="0" y="180975"/>
                  </a:moveTo>
                  <a:lnTo>
                    <a:pt x="6383" y="132864"/>
                  </a:lnTo>
                  <a:lnTo>
                    <a:pt x="24398" y="89633"/>
                  </a:lnTo>
                  <a:lnTo>
                    <a:pt x="52339" y="53006"/>
                  </a:lnTo>
                  <a:lnTo>
                    <a:pt x="88504" y="24708"/>
                  </a:lnTo>
                  <a:lnTo>
                    <a:pt x="131189" y="6464"/>
                  </a:lnTo>
                  <a:lnTo>
                    <a:pt x="178688" y="0"/>
                  </a:lnTo>
                  <a:lnTo>
                    <a:pt x="226135" y="6464"/>
                  </a:lnTo>
                  <a:lnTo>
                    <a:pt x="268783" y="24708"/>
                  </a:lnTo>
                  <a:lnTo>
                    <a:pt x="304926" y="53006"/>
                  </a:lnTo>
                  <a:lnTo>
                    <a:pt x="332857" y="89633"/>
                  </a:lnTo>
                  <a:lnTo>
                    <a:pt x="350868" y="132864"/>
                  </a:lnTo>
                  <a:lnTo>
                    <a:pt x="357250" y="180975"/>
                  </a:lnTo>
                  <a:lnTo>
                    <a:pt x="350868" y="229085"/>
                  </a:lnTo>
                  <a:lnTo>
                    <a:pt x="332857" y="272316"/>
                  </a:lnTo>
                  <a:lnTo>
                    <a:pt x="304927" y="308943"/>
                  </a:lnTo>
                  <a:lnTo>
                    <a:pt x="268783" y="337241"/>
                  </a:lnTo>
                  <a:lnTo>
                    <a:pt x="226135" y="355485"/>
                  </a:lnTo>
                  <a:lnTo>
                    <a:pt x="178688" y="361950"/>
                  </a:lnTo>
                  <a:lnTo>
                    <a:pt x="131189" y="355485"/>
                  </a:lnTo>
                  <a:lnTo>
                    <a:pt x="88504" y="337241"/>
                  </a:lnTo>
                  <a:lnTo>
                    <a:pt x="52339" y="308943"/>
                  </a:lnTo>
                  <a:lnTo>
                    <a:pt x="24398" y="272316"/>
                  </a:lnTo>
                  <a:lnTo>
                    <a:pt x="6383" y="22908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0651" y="7483475"/>
            <a:ext cx="222631" cy="20637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24120" y="8677046"/>
            <a:ext cx="222630" cy="206375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4667250" y="8964231"/>
            <a:ext cx="567055" cy="328930"/>
          </a:xfrm>
          <a:custGeom>
            <a:avLst/>
            <a:gdLst/>
            <a:ahLst/>
            <a:cxnLst/>
            <a:rect l="l" t="t" r="r" b="b"/>
            <a:pathLst>
              <a:path w="567054" h="328929">
                <a:moveTo>
                  <a:pt x="512063" y="0"/>
                </a:moveTo>
                <a:lnTo>
                  <a:pt x="54737" y="0"/>
                </a:lnTo>
                <a:lnTo>
                  <a:pt x="33432" y="4302"/>
                </a:lnTo>
                <a:lnTo>
                  <a:pt x="16033" y="16036"/>
                </a:lnTo>
                <a:lnTo>
                  <a:pt x="4302" y="33443"/>
                </a:lnTo>
                <a:lnTo>
                  <a:pt x="0" y="54762"/>
                </a:lnTo>
                <a:lnTo>
                  <a:pt x="0" y="273837"/>
                </a:lnTo>
                <a:lnTo>
                  <a:pt x="4302" y="295158"/>
                </a:lnTo>
                <a:lnTo>
                  <a:pt x="16033" y="312569"/>
                </a:lnTo>
                <a:lnTo>
                  <a:pt x="33432" y="324307"/>
                </a:lnTo>
                <a:lnTo>
                  <a:pt x="54737" y="328612"/>
                </a:lnTo>
                <a:lnTo>
                  <a:pt x="512063" y="328612"/>
                </a:lnTo>
                <a:lnTo>
                  <a:pt x="533368" y="324307"/>
                </a:lnTo>
                <a:lnTo>
                  <a:pt x="550767" y="312569"/>
                </a:lnTo>
                <a:lnTo>
                  <a:pt x="562498" y="295158"/>
                </a:lnTo>
                <a:lnTo>
                  <a:pt x="566801" y="273837"/>
                </a:lnTo>
                <a:lnTo>
                  <a:pt x="566801" y="54762"/>
                </a:lnTo>
                <a:lnTo>
                  <a:pt x="562498" y="33443"/>
                </a:lnTo>
                <a:lnTo>
                  <a:pt x="550767" y="16036"/>
                </a:lnTo>
                <a:lnTo>
                  <a:pt x="533368" y="4302"/>
                </a:lnTo>
                <a:lnTo>
                  <a:pt x="512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2361564" y="7323645"/>
            <a:ext cx="2022475" cy="476250"/>
            <a:chOff x="2361564" y="7323645"/>
            <a:chExt cx="2022475" cy="476250"/>
          </a:xfrm>
        </p:grpSpPr>
        <p:sp>
          <p:nvSpPr>
            <p:cNvPr id="35" name="object 35"/>
            <p:cNvSpPr/>
            <p:nvPr/>
          </p:nvSpPr>
          <p:spPr>
            <a:xfrm>
              <a:off x="2374264" y="7510398"/>
              <a:ext cx="271145" cy="276225"/>
            </a:xfrm>
            <a:custGeom>
              <a:avLst/>
              <a:gdLst/>
              <a:ahLst/>
              <a:cxnLst/>
              <a:rect l="l" t="t" r="r" b="b"/>
              <a:pathLst>
                <a:path w="271144" h="276225">
                  <a:moveTo>
                    <a:pt x="135509" y="0"/>
                  </a:moveTo>
                  <a:lnTo>
                    <a:pt x="92691" y="7042"/>
                  </a:lnTo>
                  <a:lnTo>
                    <a:pt x="55494" y="26655"/>
                  </a:lnTo>
                  <a:lnTo>
                    <a:pt x="26155" y="56564"/>
                  </a:lnTo>
                  <a:lnTo>
                    <a:pt x="6911" y="94496"/>
                  </a:lnTo>
                  <a:lnTo>
                    <a:pt x="0" y="138175"/>
                  </a:lnTo>
                  <a:lnTo>
                    <a:pt x="6911" y="181842"/>
                  </a:lnTo>
                  <a:lnTo>
                    <a:pt x="26155" y="219742"/>
                  </a:lnTo>
                  <a:lnTo>
                    <a:pt x="55494" y="249613"/>
                  </a:lnTo>
                  <a:lnTo>
                    <a:pt x="92691" y="269195"/>
                  </a:lnTo>
                  <a:lnTo>
                    <a:pt x="135509" y="276225"/>
                  </a:lnTo>
                  <a:lnTo>
                    <a:pt x="178264" y="269195"/>
                  </a:lnTo>
                  <a:lnTo>
                    <a:pt x="215423" y="249613"/>
                  </a:lnTo>
                  <a:lnTo>
                    <a:pt x="244743" y="219742"/>
                  </a:lnTo>
                  <a:lnTo>
                    <a:pt x="263980" y="181842"/>
                  </a:lnTo>
                  <a:lnTo>
                    <a:pt x="270891" y="138175"/>
                  </a:lnTo>
                  <a:lnTo>
                    <a:pt x="263980" y="94496"/>
                  </a:lnTo>
                  <a:lnTo>
                    <a:pt x="244743" y="56564"/>
                  </a:lnTo>
                  <a:lnTo>
                    <a:pt x="215423" y="26655"/>
                  </a:lnTo>
                  <a:lnTo>
                    <a:pt x="178264" y="7042"/>
                  </a:lnTo>
                  <a:lnTo>
                    <a:pt x="135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74264" y="7510398"/>
              <a:ext cx="271145" cy="276225"/>
            </a:xfrm>
            <a:custGeom>
              <a:avLst/>
              <a:gdLst/>
              <a:ahLst/>
              <a:cxnLst/>
              <a:rect l="l" t="t" r="r" b="b"/>
              <a:pathLst>
                <a:path w="271144" h="276225">
                  <a:moveTo>
                    <a:pt x="0" y="138175"/>
                  </a:moveTo>
                  <a:lnTo>
                    <a:pt x="6911" y="94496"/>
                  </a:lnTo>
                  <a:lnTo>
                    <a:pt x="26155" y="56564"/>
                  </a:lnTo>
                  <a:lnTo>
                    <a:pt x="55494" y="26655"/>
                  </a:lnTo>
                  <a:lnTo>
                    <a:pt x="92691" y="7042"/>
                  </a:lnTo>
                  <a:lnTo>
                    <a:pt x="135509" y="0"/>
                  </a:lnTo>
                  <a:lnTo>
                    <a:pt x="178264" y="7042"/>
                  </a:lnTo>
                  <a:lnTo>
                    <a:pt x="215423" y="26655"/>
                  </a:lnTo>
                  <a:lnTo>
                    <a:pt x="244743" y="56564"/>
                  </a:lnTo>
                  <a:lnTo>
                    <a:pt x="263980" y="94496"/>
                  </a:lnTo>
                  <a:lnTo>
                    <a:pt x="270891" y="138175"/>
                  </a:lnTo>
                  <a:lnTo>
                    <a:pt x="263980" y="181842"/>
                  </a:lnTo>
                  <a:lnTo>
                    <a:pt x="244743" y="219742"/>
                  </a:lnTo>
                  <a:lnTo>
                    <a:pt x="215423" y="249613"/>
                  </a:lnTo>
                  <a:lnTo>
                    <a:pt x="178264" y="269195"/>
                  </a:lnTo>
                  <a:lnTo>
                    <a:pt x="135509" y="276225"/>
                  </a:lnTo>
                  <a:lnTo>
                    <a:pt x="92691" y="269195"/>
                  </a:lnTo>
                  <a:lnTo>
                    <a:pt x="55494" y="249613"/>
                  </a:lnTo>
                  <a:lnTo>
                    <a:pt x="26155" y="219742"/>
                  </a:lnTo>
                  <a:lnTo>
                    <a:pt x="6911" y="181842"/>
                  </a:lnTo>
                  <a:lnTo>
                    <a:pt x="0" y="138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099941" y="7510398"/>
              <a:ext cx="271145" cy="276225"/>
            </a:xfrm>
            <a:custGeom>
              <a:avLst/>
              <a:gdLst/>
              <a:ahLst/>
              <a:cxnLst/>
              <a:rect l="l" t="t" r="r" b="b"/>
              <a:pathLst>
                <a:path w="271145" h="276225">
                  <a:moveTo>
                    <a:pt x="135382" y="0"/>
                  </a:moveTo>
                  <a:lnTo>
                    <a:pt x="92577" y="7042"/>
                  </a:lnTo>
                  <a:lnTo>
                    <a:pt x="55412" y="26655"/>
                  </a:lnTo>
                  <a:lnTo>
                    <a:pt x="26111" y="56564"/>
                  </a:lnTo>
                  <a:lnTo>
                    <a:pt x="6898" y="94496"/>
                  </a:lnTo>
                  <a:lnTo>
                    <a:pt x="0" y="138175"/>
                  </a:lnTo>
                  <a:lnTo>
                    <a:pt x="6898" y="181842"/>
                  </a:lnTo>
                  <a:lnTo>
                    <a:pt x="26111" y="219742"/>
                  </a:lnTo>
                  <a:lnTo>
                    <a:pt x="55412" y="249613"/>
                  </a:lnTo>
                  <a:lnTo>
                    <a:pt x="92577" y="269195"/>
                  </a:lnTo>
                  <a:lnTo>
                    <a:pt x="135382" y="276225"/>
                  </a:lnTo>
                  <a:lnTo>
                    <a:pt x="178199" y="269195"/>
                  </a:lnTo>
                  <a:lnTo>
                    <a:pt x="215396" y="249613"/>
                  </a:lnTo>
                  <a:lnTo>
                    <a:pt x="244735" y="219742"/>
                  </a:lnTo>
                  <a:lnTo>
                    <a:pt x="263979" y="181842"/>
                  </a:lnTo>
                  <a:lnTo>
                    <a:pt x="270891" y="138175"/>
                  </a:lnTo>
                  <a:lnTo>
                    <a:pt x="263979" y="94496"/>
                  </a:lnTo>
                  <a:lnTo>
                    <a:pt x="244735" y="56564"/>
                  </a:lnTo>
                  <a:lnTo>
                    <a:pt x="215396" y="26655"/>
                  </a:lnTo>
                  <a:lnTo>
                    <a:pt x="178199" y="7042"/>
                  </a:lnTo>
                  <a:lnTo>
                    <a:pt x="1353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099941" y="7510398"/>
              <a:ext cx="271145" cy="276225"/>
            </a:xfrm>
            <a:custGeom>
              <a:avLst/>
              <a:gdLst/>
              <a:ahLst/>
              <a:cxnLst/>
              <a:rect l="l" t="t" r="r" b="b"/>
              <a:pathLst>
                <a:path w="271145" h="276225">
                  <a:moveTo>
                    <a:pt x="0" y="138175"/>
                  </a:moveTo>
                  <a:lnTo>
                    <a:pt x="6898" y="94496"/>
                  </a:lnTo>
                  <a:lnTo>
                    <a:pt x="26111" y="56564"/>
                  </a:lnTo>
                  <a:lnTo>
                    <a:pt x="55412" y="26655"/>
                  </a:lnTo>
                  <a:lnTo>
                    <a:pt x="92577" y="7042"/>
                  </a:lnTo>
                  <a:lnTo>
                    <a:pt x="135382" y="0"/>
                  </a:lnTo>
                  <a:lnTo>
                    <a:pt x="178199" y="7042"/>
                  </a:lnTo>
                  <a:lnTo>
                    <a:pt x="215396" y="26655"/>
                  </a:lnTo>
                  <a:lnTo>
                    <a:pt x="244735" y="56564"/>
                  </a:lnTo>
                  <a:lnTo>
                    <a:pt x="263979" y="94496"/>
                  </a:lnTo>
                  <a:lnTo>
                    <a:pt x="270891" y="138175"/>
                  </a:lnTo>
                  <a:lnTo>
                    <a:pt x="263979" y="181842"/>
                  </a:lnTo>
                  <a:lnTo>
                    <a:pt x="244735" y="219742"/>
                  </a:lnTo>
                  <a:lnTo>
                    <a:pt x="215396" y="249613"/>
                  </a:lnTo>
                  <a:lnTo>
                    <a:pt x="178199" y="269195"/>
                  </a:lnTo>
                  <a:lnTo>
                    <a:pt x="135382" y="276225"/>
                  </a:lnTo>
                  <a:lnTo>
                    <a:pt x="92577" y="269195"/>
                  </a:lnTo>
                  <a:lnTo>
                    <a:pt x="55412" y="249613"/>
                  </a:lnTo>
                  <a:lnTo>
                    <a:pt x="26111" y="219742"/>
                  </a:lnTo>
                  <a:lnTo>
                    <a:pt x="6898" y="181842"/>
                  </a:lnTo>
                  <a:lnTo>
                    <a:pt x="0" y="138175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645155" y="7328407"/>
              <a:ext cx="1454785" cy="320675"/>
            </a:xfrm>
            <a:custGeom>
              <a:avLst/>
              <a:gdLst/>
              <a:ahLst/>
              <a:cxnLst/>
              <a:rect l="l" t="t" r="r" b="b"/>
              <a:pathLst>
                <a:path w="1454785" h="320675">
                  <a:moveTo>
                    <a:pt x="715898" y="0"/>
                  </a:moveTo>
                  <a:lnTo>
                    <a:pt x="0" y="320167"/>
                  </a:lnTo>
                </a:path>
                <a:path w="1454785" h="320675">
                  <a:moveTo>
                    <a:pt x="715898" y="0"/>
                  </a:moveTo>
                  <a:lnTo>
                    <a:pt x="1454784" y="32016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60621" y="4973954"/>
            <a:ext cx="104139" cy="10896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81525" y="451230"/>
            <a:ext cx="2124075" cy="76962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5288660" y="675893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ヒラギノ明朝 ProN W3"/>
                <a:cs typeface="ヒラギノ明朝 ProN W3"/>
              </a:rPr>
              <a:t>記入例</a:t>
            </a:r>
            <a:endParaRPr sz="1800">
              <a:latin typeface="ヒラギノ明朝 ProN W3"/>
              <a:cs typeface="ヒラギノ明朝 ProN W3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683000" y="8455025"/>
            <a:ext cx="463550" cy="425450"/>
            <a:chOff x="3683000" y="8455025"/>
            <a:chExt cx="463550" cy="425450"/>
          </a:xfrm>
        </p:grpSpPr>
        <p:sp>
          <p:nvSpPr>
            <p:cNvPr id="44" name="object 44"/>
            <p:cNvSpPr/>
            <p:nvPr/>
          </p:nvSpPr>
          <p:spPr>
            <a:xfrm>
              <a:off x="3695700" y="8467725"/>
              <a:ext cx="438150" cy="400050"/>
            </a:xfrm>
            <a:custGeom>
              <a:avLst/>
              <a:gdLst/>
              <a:ahLst/>
              <a:cxnLst/>
              <a:rect l="l" t="t" r="r" b="b"/>
              <a:pathLst>
                <a:path w="438150" h="400050">
                  <a:moveTo>
                    <a:pt x="371475" y="0"/>
                  </a:moveTo>
                  <a:lnTo>
                    <a:pt x="66675" y="0"/>
                  </a:lnTo>
                  <a:lnTo>
                    <a:pt x="40719" y="5238"/>
                  </a:lnTo>
                  <a:lnTo>
                    <a:pt x="19526" y="19526"/>
                  </a:lnTo>
                  <a:lnTo>
                    <a:pt x="5238" y="40719"/>
                  </a:lnTo>
                  <a:lnTo>
                    <a:pt x="0" y="66675"/>
                  </a:lnTo>
                  <a:lnTo>
                    <a:pt x="0" y="333375"/>
                  </a:lnTo>
                  <a:lnTo>
                    <a:pt x="5238" y="359325"/>
                  </a:lnTo>
                  <a:lnTo>
                    <a:pt x="19526" y="380518"/>
                  </a:lnTo>
                  <a:lnTo>
                    <a:pt x="40719" y="394809"/>
                  </a:lnTo>
                  <a:lnTo>
                    <a:pt x="66675" y="400050"/>
                  </a:lnTo>
                  <a:lnTo>
                    <a:pt x="371475" y="400050"/>
                  </a:lnTo>
                  <a:lnTo>
                    <a:pt x="397430" y="394809"/>
                  </a:lnTo>
                  <a:lnTo>
                    <a:pt x="418623" y="380518"/>
                  </a:lnTo>
                  <a:lnTo>
                    <a:pt x="432911" y="359325"/>
                  </a:lnTo>
                  <a:lnTo>
                    <a:pt x="438150" y="333375"/>
                  </a:lnTo>
                  <a:lnTo>
                    <a:pt x="438150" y="66675"/>
                  </a:lnTo>
                  <a:lnTo>
                    <a:pt x="432911" y="40719"/>
                  </a:lnTo>
                  <a:lnTo>
                    <a:pt x="418623" y="19526"/>
                  </a:lnTo>
                  <a:lnTo>
                    <a:pt x="397430" y="5238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695700" y="8467725"/>
              <a:ext cx="438150" cy="400050"/>
            </a:xfrm>
            <a:custGeom>
              <a:avLst/>
              <a:gdLst/>
              <a:ahLst/>
              <a:cxnLst/>
              <a:rect l="l" t="t" r="r" b="b"/>
              <a:pathLst>
                <a:path w="438150" h="400050">
                  <a:moveTo>
                    <a:pt x="0" y="66675"/>
                  </a:moveTo>
                  <a:lnTo>
                    <a:pt x="5238" y="40719"/>
                  </a:lnTo>
                  <a:lnTo>
                    <a:pt x="19526" y="19526"/>
                  </a:lnTo>
                  <a:lnTo>
                    <a:pt x="40719" y="5238"/>
                  </a:lnTo>
                  <a:lnTo>
                    <a:pt x="66675" y="0"/>
                  </a:lnTo>
                  <a:lnTo>
                    <a:pt x="371475" y="0"/>
                  </a:lnTo>
                  <a:lnTo>
                    <a:pt x="397430" y="5238"/>
                  </a:lnTo>
                  <a:lnTo>
                    <a:pt x="418623" y="19526"/>
                  </a:lnTo>
                  <a:lnTo>
                    <a:pt x="432911" y="40719"/>
                  </a:lnTo>
                  <a:lnTo>
                    <a:pt x="438150" y="66675"/>
                  </a:lnTo>
                  <a:lnTo>
                    <a:pt x="438150" y="333375"/>
                  </a:lnTo>
                  <a:lnTo>
                    <a:pt x="432911" y="359325"/>
                  </a:lnTo>
                  <a:lnTo>
                    <a:pt x="418623" y="380518"/>
                  </a:lnTo>
                  <a:lnTo>
                    <a:pt x="397430" y="394809"/>
                  </a:lnTo>
                  <a:lnTo>
                    <a:pt x="371475" y="400050"/>
                  </a:lnTo>
                  <a:lnTo>
                    <a:pt x="66675" y="400050"/>
                  </a:lnTo>
                  <a:lnTo>
                    <a:pt x="40719" y="394809"/>
                  </a:lnTo>
                  <a:lnTo>
                    <a:pt x="19526" y="380518"/>
                  </a:lnTo>
                  <a:lnTo>
                    <a:pt x="5238" y="359325"/>
                  </a:lnTo>
                  <a:lnTo>
                    <a:pt x="0" y="333375"/>
                  </a:lnTo>
                  <a:lnTo>
                    <a:pt x="0" y="666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822236" y="7184643"/>
          <a:ext cx="5243195" cy="2458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10"/>
                <a:gridCol w="236220"/>
                <a:gridCol w="241934"/>
                <a:gridCol w="156209"/>
                <a:gridCol w="243204"/>
                <a:gridCol w="375920"/>
                <a:gridCol w="266065"/>
                <a:gridCol w="266064"/>
                <a:gridCol w="266064"/>
                <a:gridCol w="284479"/>
                <a:gridCol w="382270"/>
                <a:gridCol w="251460"/>
                <a:gridCol w="266700"/>
                <a:gridCol w="266700"/>
                <a:gridCol w="266700"/>
                <a:gridCol w="266700"/>
                <a:gridCol w="294640"/>
                <a:gridCol w="262889"/>
                <a:gridCol w="269875"/>
              </a:tblGrid>
              <a:tr h="258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600" spc="-180">
                          <a:latin typeface="ヒラギノ明朝 ProN W3"/>
                          <a:cs typeface="ヒラギノ明朝 ProN W3"/>
                        </a:rPr>
                        <a:t>クリ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2069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marR="488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600" spc="-125">
                          <a:latin typeface="ヒラギノ明朝 ProN W3"/>
                          <a:cs typeface="ヒラギノ明朝 ProN W3"/>
                        </a:rPr>
                        <a:t>ップスポッ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2069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600" spc="-305">
                          <a:latin typeface="ヒラギノ明朝 ProN W3"/>
                          <a:cs typeface="ヒラギノ明朝 ProN W3"/>
                        </a:rPr>
                        <a:t>ト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2069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rowSpan="8">
                  <a:txBody>
                    <a:bodyPr/>
                    <a:lstStyle/>
                    <a:p>
                      <a:pPr marL="130810" marR="114300" indent="1016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電気</a:t>
                      </a:r>
                      <a:r>
                        <a:rPr dirty="0" sz="800" spc="-23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ポット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just" marL="179070" marR="177165">
                        <a:lnSpc>
                          <a:spcPct val="80400"/>
                        </a:lnSpc>
                      </a:pPr>
                      <a:r>
                        <a:rPr dirty="0" sz="900" spc="-50">
                          <a:latin typeface="ヒラギノ明朝 ProN W3"/>
                          <a:cs typeface="ヒラギノ明朝 ProN W3"/>
                        </a:rPr>
                        <a:t>追加テーブル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04775" marR="103505">
                        <a:lnSpc>
                          <a:spcPts val="1315"/>
                        </a:lnSpc>
                        <a:spcBef>
                          <a:spcPts val="420"/>
                        </a:spcBef>
                      </a:pPr>
                      <a:r>
                        <a:rPr dirty="0" sz="1100" spc="-50">
                          <a:latin typeface="ヒラギノ明朝 ProN W3"/>
                          <a:cs typeface="ヒラギノ明朝 ProN W3"/>
                        </a:rPr>
                        <a:t>＝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334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6845">
                        <a:lnSpc>
                          <a:spcPts val="740"/>
                        </a:lnSpc>
                      </a:pPr>
                      <a:r>
                        <a:rPr dirty="0" sz="800" spc="-50">
                          <a:latin typeface="ヒラギノ明朝 ProN W3"/>
                          <a:cs typeface="ヒラギノ明朝 ProN W3"/>
                        </a:rPr>
                        <a:t>壁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944"/>
                        </a:lnSpc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消火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algn="r" marR="130810">
                        <a:lnSpc>
                          <a:spcPts val="944"/>
                        </a:lnSpc>
                      </a:pPr>
                      <a:r>
                        <a:rPr dirty="0" sz="800" spc="-5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器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156845" marR="29209">
                        <a:lnSpc>
                          <a:spcPct val="80000"/>
                        </a:lnSpc>
                        <a:spcBef>
                          <a:spcPts val="155"/>
                        </a:spcBef>
                      </a:pPr>
                      <a:r>
                        <a:rPr dirty="0" sz="800" spc="-50">
                          <a:latin typeface="ヒラギノ明朝 ProN W3"/>
                          <a:cs typeface="ヒラギノ明朝 ProN W3"/>
                        </a:rPr>
                        <a:t>なし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109855">
                        <a:lnSpc>
                          <a:spcPts val="745"/>
                        </a:lnSpc>
                      </a:pPr>
                      <a:r>
                        <a:rPr dirty="0" sz="1200" spc="-50">
                          <a:latin typeface="ヒラギノ明朝 ProN W3"/>
                          <a:cs typeface="ヒラギノ明朝 ProN W3"/>
                        </a:rPr>
                        <a:t>通</a:t>
                      </a:r>
                      <a:endParaRPr sz="1200">
                        <a:latin typeface="ヒラギノ明朝 ProN W3"/>
                        <a:cs typeface="ヒラギノ明朝 ProN W3"/>
                      </a:endParaRPr>
                    </a:p>
                    <a:p>
                      <a:pPr marL="109855">
                        <a:lnSpc>
                          <a:spcPts val="1095"/>
                        </a:lnSpc>
                      </a:pPr>
                      <a:r>
                        <a:rPr dirty="0" sz="1200" spc="-50">
                          <a:latin typeface="ヒラギノ明朝 ProN W3"/>
                          <a:cs typeface="ヒラギノ明朝 ProN W3"/>
                        </a:rPr>
                        <a:t>路</a:t>
                      </a:r>
                      <a:endParaRPr sz="12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40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L="2476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00" spc="-45">
                          <a:latin typeface="ヒラギノ明朝 ProN W3"/>
                          <a:cs typeface="ヒラギノ明朝 ProN W3"/>
                        </a:rPr>
                        <a:t>下に</a:t>
                      </a:r>
                      <a:r>
                        <a:rPr dirty="0" sz="600" spc="-40">
                          <a:latin typeface="ヒラギノ明朝 ProN W3"/>
                          <a:cs typeface="ヒラギノ明朝 ProN W3"/>
                        </a:rPr>
                        <a:t>アル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667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4139" indent="-19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00" spc="-40">
                          <a:latin typeface="ヒラギノ明朝 ProN W3"/>
                          <a:cs typeface="ヒラギノ明朝 ProN W3"/>
                        </a:rPr>
                        <a:t>鉄板を</a:t>
                      </a:r>
                      <a:r>
                        <a:rPr dirty="0" sz="600" spc="500">
                          <a:latin typeface="ヒラギノ明朝 ProN W3"/>
                          <a:cs typeface="ヒラギノ明朝 ProN W3"/>
                        </a:rPr>
                        <a:t> </a:t>
                      </a:r>
                      <a:r>
                        <a:rPr dirty="0" sz="600" spc="-95">
                          <a:latin typeface="ヒラギノ明朝 ProN W3"/>
                          <a:cs typeface="ヒラギノ明朝 ProN W3"/>
                        </a:rPr>
                        <a:t>ミで加工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00" spc="-75">
                          <a:latin typeface="ヒラギノ明朝 ProN W3"/>
                          <a:cs typeface="ヒラギノ明朝 ProN W3"/>
                        </a:rPr>
                        <a:t>敷き、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540"/>
                        </a:lnSpc>
                      </a:pPr>
                      <a:r>
                        <a:rPr dirty="0" sz="800" spc="-114">
                          <a:latin typeface="ヒラギノ明朝 ProN W3"/>
                          <a:cs typeface="ヒラギノ明朝 ProN W3"/>
                        </a:rPr>
                        <a:t>イス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540"/>
                        </a:lnSpc>
                      </a:pPr>
                      <a:r>
                        <a:rPr dirty="0" sz="800" spc="-114">
                          <a:latin typeface="ヒラギノ明朝 ProN W3"/>
                          <a:cs typeface="ヒラギノ明朝 ProN W3"/>
                        </a:rPr>
                        <a:t>イス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08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100" spc="-50">
                          <a:latin typeface="ヒラギノ明朝 ProN W3"/>
                          <a:cs typeface="ヒラギノ明朝 ProN W3"/>
                        </a:rPr>
                        <a:t>＝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7" rowSpan="3">
                  <a:txBody>
                    <a:bodyPr/>
                    <a:lstStyle/>
                    <a:p>
                      <a:pPr marL="307340" marR="94615">
                        <a:lnSpc>
                          <a:spcPts val="765"/>
                        </a:lnSpc>
                        <a:spcBef>
                          <a:spcPts val="819"/>
                        </a:spcBef>
                      </a:pPr>
                      <a:r>
                        <a:rPr dirty="0" sz="800" spc="-8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ガス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  <a:p>
                      <a:pPr marL="273685" marR="94615">
                        <a:lnSpc>
                          <a:spcPts val="745"/>
                        </a:lnSpc>
                        <a:tabLst>
                          <a:tab pos="711200" algn="l"/>
                        </a:tabLst>
                      </a:pPr>
                      <a:r>
                        <a:rPr dirty="0" baseline="-27777" sz="1200" spc="-247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コ</a:t>
                      </a:r>
                      <a:r>
                        <a:rPr dirty="0" baseline="-27777" sz="1200" spc="-24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ン</a:t>
                      </a:r>
                      <a:r>
                        <a:rPr dirty="0" baseline="-27777" sz="1200" spc="-7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ロ</a:t>
                      </a:r>
                      <a:r>
                        <a:rPr dirty="0" baseline="-27777" sz="120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	</a:t>
                      </a:r>
                      <a:r>
                        <a:rPr dirty="0" sz="600" spc="-60">
                          <a:latin typeface="ヒラギノ明朝 ProN W3"/>
                          <a:cs typeface="ヒラギノ明朝 ProN W3"/>
                        </a:rPr>
                        <a:t>ガ</a:t>
                      </a:r>
                      <a:r>
                        <a:rPr dirty="0" sz="600" spc="-50">
                          <a:latin typeface="ヒラギノ明朝 ProN W3"/>
                          <a:cs typeface="ヒラギノ明朝 ProN W3"/>
                        </a:rPr>
                        <a:t>ス漏れ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  <a:p>
                      <a:pPr algn="ctr" marR="133350">
                        <a:lnSpc>
                          <a:spcPts val="700"/>
                        </a:lnSpc>
                      </a:pPr>
                      <a:r>
                        <a:rPr dirty="0" sz="600" spc="-20">
                          <a:latin typeface="ヒラギノ明朝 ProN W3"/>
                          <a:cs typeface="ヒラギノ明朝 ProN W3"/>
                        </a:rPr>
                        <a:t>警報器</a:t>
                      </a:r>
                      <a:endParaRPr sz="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04139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7" rowSpan="3">
                  <a:txBody>
                    <a:bodyPr/>
                    <a:lstStyle/>
                    <a:p>
                      <a:pPr algn="r" marR="27622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800" spc="-16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ホット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  <a:p>
                      <a:pPr algn="r" marR="224154">
                        <a:lnSpc>
                          <a:spcPct val="100000"/>
                        </a:lnSpc>
                      </a:pPr>
                      <a:r>
                        <a:rPr dirty="0" sz="800" spc="-18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プレート</a:t>
                      </a:r>
                      <a:endParaRPr sz="8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0604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673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57150">
                      <a:solidFill>
                        <a:srgbClr val="FFFFFF"/>
                      </a:solidFill>
                      <a:prstDash val="sysDash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7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4139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7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04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1460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FFFFFF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ysDot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ysDot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28575">
                      <a:solidFill>
                        <a:srgbClr val="000000"/>
                      </a:solidFill>
                      <a:prstDash val="sysDot"/>
                    </a:lnB>
                  </a:tcPr>
                </a:tc>
                <a:tc gridSpan="7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4139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7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04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ysDot"/>
                    </a:lnB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ysDot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225"/>
                        </a:lnSpc>
                        <a:spcBef>
                          <a:spcPts val="865"/>
                        </a:spcBef>
                      </a:pPr>
                      <a:r>
                        <a:rPr dirty="0" sz="1200" spc="-25">
                          <a:latin typeface="ヒラギノ明朝 ProN W3"/>
                          <a:cs typeface="ヒラギノ明朝 ProN W3"/>
                        </a:rPr>
                        <a:t>通路</a:t>
                      </a:r>
                      <a:endParaRPr sz="12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ysDot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ot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ysDot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0" y="0"/>
            <a:ext cx="6858000" cy="360045"/>
          </a:xfrm>
          <a:custGeom>
            <a:avLst/>
            <a:gdLst/>
            <a:ahLst/>
            <a:cxnLst/>
            <a:rect l="l" t="t" r="r" b="b"/>
            <a:pathLst>
              <a:path w="6858000" h="360045">
                <a:moveTo>
                  <a:pt x="6858000" y="0"/>
                </a:moveTo>
                <a:lnTo>
                  <a:pt x="0" y="0"/>
                </a:lnTo>
                <a:lnTo>
                  <a:pt x="0" y="360045"/>
                </a:lnTo>
                <a:lnTo>
                  <a:pt x="6858000" y="360045"/>
                </a:lnTo>
                <a:lnTo>
                  <a:pt x="685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76173" y="65277"/>
            <a:ext cx="5699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solidFill>
                  <a:srgbClr val="FFFFFF"/>
                </a:solidFill>
                <a:latin typeface="ヒラギノ明朝 ProN W3"/>
                <a:cs typeface="ヒラギノ明朝 ProN W3"/>
              </a:rPr>
              <a:t>【書類提出先】  </a:t>
            </a:r>
            <a:r>
              <a:rPr dirty="0" sz="1400" spc="-250">
                <a:solidFill>
                  <a:srgbClr val="FFFFFF"/>
                </a:solidFill>
                <a:latin typeface="ヒラギノ明朝 ProN W3"/>
                <a:cs typeface="ヒラギノ明朝 ProN W3"/>
              </a:rPr>
              <a:t>㈱エイエイピー 担当：杉山•蜂屋 ＦＡＸ：０５４－２８４－６３３０</a:t>
            </a:r>
            <a:endParaRPr sz="14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1997773" y="1427035"/>
          <a:ext cx="4796155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6290"/>
                <a:gridCol w="1811020"/>
                <a:gridCol w="885825"/>
                <a:gridCol w="1197610"/>
              </a:tblGrid>
              <a:tr h="39624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050" spc="-15">
                          <a:latin typeface="ヒラギノ明朝 ProN W3"/>
                          <a:cs typeface="ヒラギノ明朝 ProN W3"/>
                        </a:rPr>
                        <a:t>出展者名</a:t>
                      </a:r>
                      <a:endParaRPr sz="105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19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600" spc="-35">
                          <a:latin typeface="ヒラギノ明朝 ProN W3"/>
                          <a:cs typeface="ヒラギノ明朝 ProN W3"/>
                        </a:rPr>
                        <a:t>○○商店</a:t>
                      </a:r>
                      <a:endParaRPr sz="16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10"/>
                        </a:lnSpc>
                        <a:spcBef>
                          <a:spcPts val="400"/>
                        </a:spcBef>
                      </a:pPr>
                      <a:r>
                        <a:rPr dirty="0" sz="1100" spc="-1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出展番号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900" spc="-445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（</a:t>
                      </a:r>
                      <a:r>
                        <a:rPr dirty="0" sz="900" spc="-9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主催者記入</a:t>
                      </a:r>
                      <a:r>
                        <a:rPr dirty="0" sz="900" spc="-50">
                          <a:solidFill>
                            <a:srgbClr val="FFFFFF"/>
                          </a:solidFill>
                          <a:latin typeface="ヒラギノ明朝 ProN W3"/>
                          <a:cs typeface="ヒラギノ明朝 ProN W3"/>
                        </a:rPr>
                        <a:t>）</a:t>
                      </a:r>
                      <a:endParaRPr sz="9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5080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0" name="object 5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97835" y="8927871"/>
            <a:ext cx="168275" cy="1769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9522" y="513746"/>
            <a:ext cx="1556766" cy="751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9732" y="555498"/>
            <a:ext cx="9563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ヒラギノ明朝 ProN W3"/>
                <a:cs typeface="ヒラギノ明朝 ProN W3"/>
              </a:rPr>
              <a:t>提出書類 【４</a:t>
            </a:r>
            <a:r>
              <a:rPr dirty="0" sz="1000">
                <a:latin typeface="Arial"/>
                <a:cs typeface="Arial"/>
              </a:rPr>
              <a:t>-</a:t>
            </a:r>
            <a:r>
              <a:rPr dirty="0" sz="1000" spc="65">
                <a:latin typeface="Arial"/>
                <a:cs typeface="Arial"/>
              </a:rPr>
              <a:t>1</a:t>
            </a:r>
            <a:r>
              <a:rPr dirty="0" sz="1000" spc="-560">
                <a:latin typeface="ヒラギノ明朝 ProN W3"/>
                <a:cs typeface="ヒラギノ明朝 ProN W3"/>
              </a:rPr>
              <a:t>】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64283" y="804798"/>
            <a:ext cx="237109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80">
                <a:latin typeface="Arial"/>
                <a:cs typeface="Arial"/>
              </a:rPr>
              <a:t>WEB</a:t>
            </a:r>
            <a:r>
              <a:rPr dirty="0" sz="2000" spc="-215">
                <a:latin typeface="ヒラギノ明朝 ProN W3"/>
                <a:cs typeface="ヒラギノ明朝 ProN W3"/>
              </a:rPr>
              <a:t>ページ•</a:t>
            </a:r>
            <a:r>
              <a:rPr dirty="0" sz="2000" spc="-65">
                <a:latin typeface="Arial"/>
                <a:cs typeface="Arial"/>
              </a:rPr>
              <a:t>Instagram</a:t>
            </a:r>
            <a:endParaRPr sz="20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</a:pPr>
            <a:r>
              <a:rPr dirty="0" sz="2000" spc="-160">
                <a:latin typeface="ヒラギノ明朝 ProN W3"/>
                <a:cs typeface="ヒラギノ明朝 ProN W3"/>
              </a:rPr>
              <a:t>掲載情報確認シート</a:t>
            </a:r>
            <a:endParaRPr sz="2000">
              <a:latin typeface="ヒラギノ明朝 ProN W3"/>
              <a:cs typeface="ヒラギノ明朝 ProN W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6858000" cy="360045"/>
          </a:xfrm>
          <a:custGeom>
            <a:avLst/>
            <a:gdLst/>
            <a:ahLst/>
            <a:cxnLst/>
            <a:rect l="l" t="t" r="r" b="b"/>
            <a:pathLst>
              <a:path w="6858000" h="360045">
                <a:moveTo>
                  <a:pt x="6858000" y="0"/>
                </a:moveTo>
                <a:lnTo>
                  <a:pt x="0" y="0"/>
                </a:lnTo>
                <a:lnTo>
                  <a:pt x="0" y="360045"/>
                </a:lnTo>
                <a:lnTo>
                  <a:pt x="6858000" y="360045"/>
                </a:lnTo>
                <a:lnTo>
                  <a:pt x="685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6173" y="65277"/>
            <a:ext cx="56997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solidFill>
                  <a:srgbClr val="FFFFFF"/>
                </a:solidFill>
                <a:latin typeface="ヒラギノ明朝 ProN W3"/>
                <a:cs typeface="ヒラギノ明朝 ProN W3"/>
              </a:rPr>
              <a:t>【書類提出先】  </a:t>
            </a:r>
            <a:r>
              <a:rPr dirty="0" sz="1400" spc="-250">
                <a:solidFill>
                  <a:srgbClr val="FFFFFF"/>
                </a:solidFill>
                <a:latin typeface="ヒラギノ明朝 ProN W3"/>
                <a:cs typeface="ヒラギノ明朝 ProN W3"/>
              </a:rPr>
              <a:t>㈱エイエイピー 担当：杉山•蜂屋 ＦＡＸ：０５４－２８４－６３３０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2544" y="609142"/>
            <a:ext cx="1368425" cy="80645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70485" rIns="0" bIns="0" rtlCol="0" vert="horz">
            <a:spAutoFit/>
          </a:bodyPr>
          <a:lstStyle/>
          <a:p>
            <a:pPr algn="ctr" marL="151130" marR="140335">
              <a:lnSpc>
                <a:spcPct val="100000"/>
              </a:lnSpc>
              <a:spcBef>
                <a:spcPts val="555"/>
              </a:spcBef>
            </a:pPr>
            <a:r>
              <a:rPr dirty="0" sz="800" spc="-110">
                <a:latin typeface="ヒラギノ明朝 ProN W3"/>
                <a:cs typeface="ヒラギノ明朝 ProN W3"/>
              </a:rPr>
              <a:t>産業フェアしずおか</a:t>
            </a:r>
            <a:r>
              <a:rPr dirty="0" sz="800" spc="-20">
                <a:latin typeface="Arial"/>
                <a:cs typeface="Arial"/>
              </a:rPr>
              <a:t>2025</a:t>
            </a:r>
            <a:r>
              <a:rPr dirty="0" sz="800" spc="-10">
                <a:latin typeface="ヒラギノ明朝 ProN W3"/>
                <a:cs typeface="ヒラギノ明朝 ProN W3"/>
              </a:rPr>
              <a:t>出展事務局</a:t>
            </a:r>
            <a:endParaRPr sz="800">
              <a:latin typeface="ヒラギノ明朝 ProN W3"/>
              <a:cs typeface="ヒラギノ明朝 ProN W3"/>
            </a:endParaRPr>
          </a:p>
          <a:p>
            <a:pPr algn="ctr" marL="2540">
              <a:lnSpc>
                <a:spcPct val="100000"/>
              </a:lnSpc>
              <a:spcBef>
                <a:spcPts val="495"/>
              </a:spcBef>
            </a:pPr>
            <a:r>
              <a:rPr dirty="0" sz="800" spc="-145">
                <a:latin typeface="ヒラギノ明朝 ProN W3"/>
                <a:cs typeface="ヒラギノ明朝 ProN W3"/>
              </a:rPr>
              <a:t>㈱エイエイピー：蜂屋</a:t>
            </a:r>
            <a:endParaRPr sz="800">
              <a:latin typeface="ヒラギノ明朝 ProN W3"/>
              <a:cs typeface="ヒラギノ明朝 ProN W3"/>
            </a:endParaRPr>
          </a:p>
          <a:p>
            <a:pPr algn="ctr" marL="3810">
              <a:lnSpc>
                <a:spcPct val="100000"/>
              </a:lnSpc>
              <a:spcBef>
                <a:spcPts val="295"/>
              </a:spcBef>
            </a:pPr>
            <a:r>
              <a:rPr dirty="0" sz="700" spc="-100">
                <a:latin typeface="ヒラギノ明朝 ProN W3"/>
                <a:cs typeface="ヒラギノ明朝 ProN W3"/>
              </a:rPr>
              <a:t>ＴＥＬ：</a:t>
            </a:r>
            <a:r>
              <a:rPr dirty="0" sz="700" spc="-100">
                <a:latin typeface="Arial"/>
                <a:cs typeface="Arial"/>
              </a:rPr>
              <a:t>054-</a:t>
            </a:r>
            <a:r>
              <a:rPr dirty="0" sz="700" spc="70">
                <a:latin typeface="Arial"/>
                <a:cs typeface="Arial"/>
              </a:rPr>
              <a:t>284-</a:t>
            </a:r>
            <a:r>
              <a:rPr dirty="0" sz="700" spc="-20">
                <a:latin typeface="Arial"/>
                <a:cs typeface="Arial"/>
              </a:rPr>
              <a:t>6333</a:t>
            </a:r>
            <a:endParaRPr sz="700">
              <a:latin typeface="Arial"/>
              <a:cs typeface="Arial"/>
            </a:endParaRPr>
          </a:p>
          <a:p>
            <a:pPr algn="ctr" marL="4445">
              <a:lnSpc>
                <a:spcPct val="100000"/>
              </a:lnSpc>
            </a:pPr>
            <a:r>
              <a:rPr dirty="0" sz="700" spc="-85">
                <a:latin typeface="ヒラギノ明朝 ProN W3"/>
                <a:cs typeface="ヒラギノ明朝 ProN W3"/>
              </a:rPr>
              <a:t>ＦＡＸ：</a:t>
            </a:r>
            <a:r>
              <a:rPr dirty="0" sz="700" spc="-85">
                <a:latin typeface="Arial"/>
                <a:cs typeface="Arial"/>
              </a:rPr>
              <a:t>054-</a:t>
            </a:r>
            <a:r>
              <a:rPr dirty="0" sz="700" spc="75">
                <a:latin typeface="Arial"/>
                <a:cs typeface="Arial"/>
              </a:rPr>
              <a:t>284-</a:t>
            </a:r>
            <a:r>
              <a:rPr dirty="0" sz="700" spc="-20">
                <a:latin typeface="Arial"/>
                <a:cs typeface="Arial"/>
              </a:rPr>
              <a:t>6330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21885" y="947038"/>
            <a:ext cx="1249680" cy="0"/>
          </a:xfrm>
          <a:custGeom>
            <a:avLst/>
            <a:gdLst/>
            <a:ahLst/>
            <a:cxnLst/>
            <a:rect l="l" t="t" r="r" b="b"/>
            <a:pathLst>
              <a:path w="1249679" h="0">
                <a:moveTo>
                  <a:pt x="0" y="0"/>
                </a:moveTo>
                <a:lnTo>
                  <a:pt x="124967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24" y="8243823"/>
            <a:ext cx="216001" cy="21602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7891" y="8142158"/>
            <a:ext cx="4787265" cy="151130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050" spc="75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050" spc="25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200" spc="-20">
                <a:latin typeface="ヒラギノ明朝 ProN W3"/>
                <a:cs typeface="ヒラギノ明朝 ProN W3"/>
              </a:rPr>
              <a:t>掲載画像の提出 </a:t>
            </a:r>
            <a:r>
              <a:rPr dirty="0" sz="1200" spc="-114">
                <a:solidFill>
                  <a:srgbClr val="FF0000"/>
                </a:solidFill>
                <a:latin typeface="ヒラギノ明朝 ProN W3"/>
                <a:cs typeface="ヒラギノ明朝 ProN W3"/>
              </a:rPr>
              <a:t>※全出展者お写真を１枚以上お送りください</a:t>
            </a:r>
            <a:endParaRPr sz="1200">
              <a:latin typeface="ヒラギノ明朝 ProN W3"/>
              <a:cs typeface="ヒラギノ明朝 ProN W3"/>
            </a:endParaRPr>
          </a:p>
          <a:p>
            <a:pPr marL="325755">
              <a:lnSpc>
                <a:spcPct val="100000"/>
              </a:lnSpc>
              <a:spcBef>
                <a:spcPts val="750"/>
              </a:spcBef>
            </a:pPr>
            <a:r>
              <a:rPr dirty="0" sz="1100" spc="-90" b="1">
                <a:latin typeface="ヒラギノ明朝 ProN W6"/>
                <a:cs typeface="ヒラギノ明朝 ProN W6"/>
              </a:rPr>
              <a:t>掲載画像は下記のアドレスにお送りください。</a:t>
            </a:r>
            <a:endParaRPr sz="1100">
              <a:latin typeface="ヒラギノ明朝 ProN W6"/>
              <a:cs typeface="ヒラギノ明朝 ProN W6"/>
            </a:endParaRPr>
          </a:p>
          <a:p>
            <a:pPr marL="1534160">
              <a:lnSpc>
                <a:spcPct val="100000"/>
              </a:lnSpc>
              <a:spcBef>
                <a:spcPts val="680"/>
              </a:spcBef>
            </a:pPr>
            <a:r>
              <a:rPr dirty="0" sz="2000" spc="-150" b="1">
                <a:latin typeface="Arial"/>
                <a:cs typeface="Arial"/>
                <a:hlinkClick r:id="rId3"/>
              </a:rPr>
              <a:t>sf-shizuoka2025@aap-</a:t>
            </a:r>
            <a:r>
              <a:rPr dirty="0" sz="2000" spc="-95" b="1">
                <a:latin typeface="Arial"/>
                <a:cs typeface="Arial"/>
                <a:hlinkClick r:id="rId3"/>
              </a:rPr>
              <a:t>jim.com</a:t>
            </a:r>
            <a:endParaRPr sz="2000">
              <a:latin typeface="Arial"/>
              <a:cs typeface="Arial"/>
            </a:endParaRPr>
          </a:p>
          <a:p>
            <a:pPr marL="325755">
              <a:lnSpc>
                <a:spcPct val="100000"/>
              </a:lnSpc>
              <a:spcBef>
                <a:spcPts val="1655"/>
              </a:spcBef>
            </a:pPr>
            <a:r>
              <a:rPr dirty="0" sz="1100" spc="-110">
                <a:latin typeface="ヒラギノ明朝 ProN W3"/>
                <a:cs typeface="ヒラギノ明朝 ProN W3"/>
              </a:rPr>
              <a:t>【画像の条件】 １枚につき</a:t>
            </a:r>
            <a:r>
              <a:rPr dirty="0" sz="1100" spc="210">
                <a:latin typeface="Arial"/>
                <a:cs typeface="Arial"/>
              </a:rPr>
              <a:t>640</a:t>
            </a:r>
            <a:r>
              <a:rPr dirty="0" sz="1100" spc="210">
                <a:latin typeface="ヒラギノ明朝 ProN W3"/>
                <a:cs typeface="ヒラギノ明朝 ProN W3"/>
              </a:rPr>
              <a:t>×</a:t>
            </a:r>
            <a:r>
              <a:rPr dirty="0" sz="1100" spc="210">
                <a:latin typeface="Arial"/>
                <a:cs typeface="Arial"/>
              </a:rPr>
              <a:t>480</a:t>
            </a:r>
            <a:r>
              <a:rPr dirty="0" sz="1100" spc="-70">
                <a:latin typeface="ヒラギノ明朝 ProN W3"/>
                <a:cs typeface="ヒラギノ明朝 ProN W3"/>
              </a:rPr>
              <a:t>ピクセル以上</a:t>
            </a:r>
            <a:endParaRPr sz="1100">
              <a:latin typeface="ヒラギノ明朝 ProN W3"/>
              <a:cs typeface="ヒラギノ明朝 ProN W3"/>
            </a:endParaRPr>
          </a:p>
          <a:p>
            <a:pPr marL="1263015">
              <a:lnSpc>
                <a:spcPct val="100000"/>
              </a:lnSpc>
            </a:pPr>
            <a:r>
              <a:rPr dirty="0" sz="1100" spc="-180">
                <a:latin typeface="ヒラギノ明朝 ProN W3"/>
                <a:cs typeface="ヒラギノ明朝 ProN W3"/>
              </a:rPr>
              <a:t>写真タイトルは「出展者名１」「出展者名２」としてください</a:t>
            </a:r>
            <a:endParaRPr sz="1100">
              <a:latin typeface="ヒラギノ明朝 ProN W3"/>
              <a:cs typeface="ヒラギノ明朝 ProN W3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34430" y="599605"/>
            <a:ext cx="1080135" cy="817880"/>
          </a:xfrm>
          <a:custGeom>
            <a:avLst/>
            <a:gdLst/>
            <a:ahLst/>
            <a:cxnLst/>
            <a:rect l="l" t="t" r="r" b="b"/>
            <a:pathLst>
              <a:path w="1080134" h="817880">
                <a:moveTo>
                  <a:pt x="1080122" y="0"/>
                </a:moveTo>
                <a:lnTo>
                  <a:pt x="0" y="0"/>
                </a:lnTo>
                <a:lnTo>
                  <a:pt x="0" y="817841"/>
                </a:lnTo>
                <a:lnTo>
                  <a:pt x="1080122" y="817841"/>
                </a:lnTo>
                <a:lnTo>
                  <a:pt x="10801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16346" y="889508"/>
            <a:ext cx="918844" cy="47815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10/8</a:t>
            </a:r>
            <a:r>
              <a:rPr dirty="0" sz="1800" spc="-14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（</a:t>
            </a:r>
            <a:r>
              <a:rPr dirty="0" sz="1800" spc="-615">
                <a:solidFill>
                  <a:srgbClr val="FFFFFF"/>
                </a:solidFill>
                <a:latin typeface="ヒラギノ明朝 ProN W3"/>
                <a:cs typeface="ヒラギノ明朝 ProN W3"/>
              </a:rPr>
              <a:t>水</a:t>
            </a:r>
            <a:r>
              <a:rPr dirty="0" sz="1800" spc="-66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）</a:t>
            </a:r>
            <a:endParaRPr sz="1800">
              <a:latin typeface="ヒラギノ明朝 ProN W3"/>
              <a:cs typeface="ヒラギノ明朝 ProN W3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900" spc="-15">
                <a:solidFill>
                  <a:srgbClr val="FFFFFF"/>
                </a:solidFill>
                <a:latin typeface="ヒラギノ明朝 ProN W3"/>
                <a:cs typeface="ヒラギノ明朝 ProN W3"/>
              </a:rPr>
              <a:t>提出期限</a:t>
            </a:r>
            <a:endParaRPr sz="900">
              <a:latin typeface="ヒラギノ明朝 ProN W3"/>
              <a:cs typeface="ヒラギノ明朝 ProN W3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70879" y="669010"/>
            <a:ext cx="1007744" cy="221615"/>
            <a:chOff x="5770879" y="669010"/>
            <a:chExt cx="1007744" cy="221615"/>
          </a:xfrm>
        </p:grpSpPr>
        <p:sp>
          <p:nvSpPr>
            <p:cNvPr id="13" name="object 13"/>
            <p:cNvSpPr/>
            <p:nvPr/>
          </p:nvSpPr>
          <p:spPr>
            <a:xfrm>
              <a:off x="5783579" y="681710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981849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981849" y="196113"/>
                  </a:lnTo>
                  <a:lnTo>
                    <a:pt x="98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83579" y="681710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0" y="196113"/>
                  </a:moveTo>
                  <a:lnTo>
                    <a:pt x="981849" y="196113"/>
                  </a:lnTo>
                  <a:lnTo>
                    <a:pt x="981849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783579" y="681710"/>
            <a:ext cx="982344" cy="1962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170"/>
              </a:spcBef>
            </a:pPr>
            <a:r>
              <a:rPr dirty="0" sz="1050" spc="-15">
                <a:latin typeface="ヒラギノ明朝 ProN W3"/>
                <a:cs typeface="ヒラギノ明朝 ProN W3"/>
              </a:rPr>
              <a:t>全出展者</a:t>
            </a:r>
            <a:endParaRPr sz="1050">
              <a:latin typeface="ヒラギノ明朝 ProN W3"/>
              <a:cs typeface="ヒラギノ明朝 ProN W3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344" y="591101"/>
            <a:ext cx="1522603" cy="73491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54671" y="3222879"/>
            <a:ext cx="4810125" cy="2682240"/>
          </a:xfrm>
          <a:prstGeom prst="rect">
            <a:avLst/>
          </a:prstGeom>
          <a:solidFill>
            <a:srgbClr val="4F81BC"/>
          </a:solidFill>
          <a:ln w="25400">
            <a:solidFill>
              <a:srgbClr val="1C334E"/>
            </a:solidFill>
          </a:ln>
        </p:spPr>
        <p:txBody>
          <a:bodyPr wrap="square" lIns="0" tIns="24002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89"/>
              </a:spcBef>
            </a:pPr>
            <a:endParaRPr sz="2800">
              <a:latin typeface="Times New Roman"/>
              <a:cs typeface="Times New Roman"/>
            </a:endParaRPr>
          </a:p>
          <a:p>
            <a:pPr marL="1872614" marR="967740" indent="-897890">
              <a:lnSpc>
                <a:spcPct val="150000"/>
              </a:lnSpc>
            </a:pPr>
            <a:r>
              <a:rPr dirty="0" sz="2800" spc="-340">
                <a:solidFill>
                  <a:srgbClr val="FFFFFF"/>
                </a:solidFill>
                <a:latin typeface="ヒラギノ明朝 ProN W3"/>
                <a:cs typeface="ヒラギノ明朝 ProN W3"/>
              </a:rPr>
              <a:t>入稿フォームシート</a:t>
            </a:r>
            <a:r>
              <a:rPr dirty="0" sz="2800" spc="-40">
                <a:solidFill>
                  <a:srgbClr val="FFFFFF"/>
                </a:solidFill>
                <a:latin typeface="ヒラギノ明朝 ProN W3"/>
                <a:cs typeface="ヒラギノ明朝 ProN W3"/>
              </a:rPr>
              <a:t>作成中</a:t>
            </a:r>
            <a:endParaRPr sz="2800">
              <a:latin typeface="ヒラギノ明朝 ProN W3"/>
              <a:cs typeface="ヒラギノ明朝 ProN W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30936" y="2380360"/>
          <a:ext cx="6452235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1405"/>
                <a:gridCol w="2183130"/>
                <a:gridCol w="943610"/>
                <a:gridCol w="2160270"/>
              </a:tblGrid>
              <a:tr h="407670"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60">
                          <a:latin typeface="ヒラギノ明朝 ProN W3"/>
                          <a:cs typeface="ヒラギノ明朝 ProN W3"/>
                        </a:rPr>
                        <a:t>出展ゾーン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5">
                          <a:latin typeface="ヒラギノ明朝 ProN W3"/>
                          <a:cs typeface="ヒラギノ明朝 ProN W3"/>
                        </a:rPr>
                        <a:t>地場産業</a:t>
                      </a:r>
                      <a:r>
                        <a:rPr dirty="0" sz="1100" spc="34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-130">
                          <a:latin typeface="ヒラギノ明朝 ProN W3"/>
                          <a:cs typeface="ヒラギノ明朝 ProN W3"/>
                        </a:rPr>
                        <a:t>観光 ・ 企業 ・ 物産ストリート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7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90">
                          <a:latin typeface="ヒラギノ明朝 ProN W3"/>
                          <a:cs typeface="ヒラギノ明朝 ProN W3"/>
                        </a:rPr>
                        <a:t>団体名・社名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7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所属部署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担当者名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390">
                          <a:latin typeface="ヒラギノ明朝 ProN W3"/>
                          <a:cs typeface="ヒラギノ明朝 ProN W3"/>
                        </a:rPr>
                        <a:t>ＴＥＬ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100" spc="-15">
                          <a:latin typeface="ヒラギノ明朝 ProN W3"/>
                          <a:cs typeface="ヒラギノ明朝 ProN W3"/>
                        </a:rPr>
                        <a:t>携帯電話</a:t>
                      </a:r>
                      <a:endParaRPr sz="11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919732" y="555498"/>
            <a:ext cx="797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75">
                <a:latin typeface="ヒラギノ明朝 ProN W3"/>
                <a:cs typeface="ヒラギノ明朝 ProN W3"/>
              </a:rPr>
              <a:t>提出書類 【５】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3448" y="804798"/>
            <a:ext cx="2119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90">
                <a:latin typeface="ヒラギノ明朝 ProN W3"/>
                <a:cs typeface="ヒラギノ明朝 ProN W3"/>
              </a:rPr>
              <a:t>ご協賛品確認シート</a:t>
            </a:r>
            <a:endParaRPr sz="2000">
              <a:latin typeface="ヒラギノ明朝 ProN W3"/>
              <a:cs typeface="ヒラギノ明朝 ProN W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141" y="1496060"/>
            <a:ext cx="611759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55">
                <a:latin typeface="ヒラギノ明朝 ProN W3"/>
                <a:cs typeface="ヒラギノ明朝 ProN W3"/>
              </a:rPr>
              <a:t>産業フェアしずおか</a:t>
            </a:r>
            <a:r>
              <a:rPr dirty="0" sz="1100">
                <a:latin typeface="Arial"/>
                <a:cs typeface="Arial"/>
              </a:rPr>
              <a:t>2025</a:t>
            </a:r>
            <a:r>
              <a:rPr dirty="0" sz="1100" spc="-175">
                <a:latin typeface="ヒラギノ明朝 ProN W3"/>
                <a:cs typeface="ヒラギノ明朝 ProN W3"/>
              </a:rPr>
              <a:t>では会場内の周遊企画としてスタンプラリーの実施を考えております。</a:t>
            </a:r>
            <a:endParaRPr sz="1100">
              <a:latin typeface="ヒラギノ明朝 ProN W3"/>
              <a:cs typeface="ヒラギノ明朝 ProN W3"/>
            </a:endParaRPr>
          </a:p>
          <a:p>
            <a:pPr marL="12700" marR="5080">
              <a:lnSpc>
                <a:spcPct val="100000"/>
              </a:lnSpc>
            </a:pPr>
            <a:r>
              <a:rPr dirty="0" sz="1100" spc="-210">
                <a:latin typeface="ヒラギノ明朝 ProN W3"/>
                <a:cs typeface="ヒラギノ明朝 ProN W3"/>
              </a:rPr>
              <a:t>つきましては、出展者の皆様にご協力をいただき、ご提供いただきました商品をクイズラリーの景品に活用し、</a:t>
            </a:r>
            <a:r>
              <a:rPr dirty="0" sz="1100" spc="-80">
                <a:latin typeface="ヒラギノ明朝 ProN W3"/>
                <a:cs typeface="ヒラギノ明朝 ProN W3"/>
              </a:rPr>
              <a:t>静岡市の産業、企業の</a:t>
            </a:r>
            <a:r>
              <a:rPr dirty="0" sz="1100" spc="-160">
                <a:latin typeface="Arial"/>
                <a:cs typeface="Arial"/>
              </a:rPr>
              <a:t>PR</a:t>
            </a:r>
            <a:r>
              <a:rPr dirty="0" sz="1100" spc="-210">
                <a:latin typeface="ヒラギノ明朝 ProN W3"/>
                <a:cs typeface="ヒラギノ明朝 ProN W3"/>
              </a:rPr>
              <a:t>に繋げていきたいと考えております。ご協力の程、宜しくお願い申し上げます。</a:t>
            </a:r>
            <a:endParaRPr sz="1100">
              <a:latin typeface="ヒラギノ明朝 ProN W3"/>
              <a:cs typeface="ヒラギノ明朝 ProN W3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361" y="4245355"/>
            <a:ext cx="216001" cy="2160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7865" y="4145887"/>
            <a:ext cx="3058160" cy="56959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050" spc="-10">
                <a:solidFill>
                  <a:srgbClr val="FFFFFF"/>
                </a:solidFill>
                <a:latin typeface="ヒラギノ明朝 ProN W3"/>
                <a:cs typeface="ヒラギノ明朝 ProN W3"/>
              </a:rPr>
              <a:t>１  </a:t>
            </a:r>
            <a:r>
              <a:rPr dirty="0" sz="1200" spc="-50">
                <a:latin typeface="ヒラギノ明朝 ProN W3"/>
                <a:cs typeface="ヒラギノ明朝 ProN W3"/>
              </a:rPr>
              <a:t>ご協賛品確認</a:t>
            </a:r>
            <a:endParaRPr sz="1200">
              <a:latin typeface="ヒラギノ明朝 ProN W3"/>
              <a:cs typeface="ヒラギノ明朝 ProN W3"/>
            </a:endParaRPr>
          </a:p>
          <a:p>
            <a:pPr marL="226695">
              <a:lnSpc>
                <a:spcPct val="100000"/>
              </a:lnSpc>
              <a:spcBef>
                <a:spcPts val="730"/>
              </a:spcBef>
            </a:pPr>
            <a:r>
              <a:rPr dirty="0" sz="1100" spc="-190">
                <a:latin typeface="ヒラギノ明朝 ProN W3"/>
                <a:cs typeface="ヒラギノ明朝 ProN W3"/>
              </a:rPr>
              <a:t>無償にてご提供いただける商品をご記入ください。</a:t>
            </a:r>
            <a:endParaRPr sz="1100">
              <a:latin typeface="ヒラギノ明朝 ProN W3"/>
              <a:cs typeface="ヒラギノ明朝 ProN W3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19900" y="4838572"/>
          <a:ext cx="6452235" cy="299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160"/>
                <a:gridCol w="3390900"/>
                <a:gridCol w="1314450"/>
                <a:gridCol w="1272539"/>
              </a:tblGrid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-390">
                          <a:latin typeface="ヒラギノ明朝 ProN W3"/>
                          <a:cs typeface="ヒラギノ明朝 ProN W3"/>
                        </a:rPr>
                        <a:t>Ｎｏ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-25">
                          <a:latin typeface="ヒラギノ明朝 ProN W3"/>
                          <a:cs typeface="ヒラギノ明朝 ProN W3"/>
                        </a:rPr>
                        <a:t>商品名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-30">
                          <a:latin typeface="ヒラギノ明朝 ProN W3"/>
                          <a:cs typeface="ヒラギノ明朝 ProN W3"/>
                        </a:rPr>
                        <a:t>数量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-20">
                          <a:latin typeface="ヒラギノ明朝 ProN W3"/>
                          <a:cs typeface="ヒラギノ明朝 ProN W3"/>
                        </a:rPr>
                        <a:t>参考単価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349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53975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01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53975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02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53975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03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539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04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53975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05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53975">
                        <a:lnSpc>
                          <a:spcPct val="100000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06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000" spc="-50">
                          <a:latin typeface="ヒラギノ明朝 ProN W3"/>
                          <a:cs typeface="ヒラギノ明朝 ProN W3"/>
                        </a:rPr>
                        <a:t>￥</a:t>
                      </a:r>
                      <a:endParaRPr sz="1000">
                        <a:latin typeface="ヒラギノ明朝 ProN W3"/>
                        <a:cs typeface="ヒラギノ明朝 ProN W3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08202" y="8567978"/>
            <a:ext cx="5235575" cy="6623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400"/>
              </a:spcBef>
            </a:pPr>
            <a:r>
              <a:rPr dirty="0" sz="1000" spc="-60" b="1">
                <a:latin typeface="ヒラギノ明朝 ProN W6"/>
                <a:cs typeface="ヒラギノ明朝 ProN W6"/>
              </a:rPr>
              <a:t>■ご協賛品持込みのお願い■</a:t>
            </a:r>
            <a:endParaRPr sz="1000">
              <a:latin typeface="ヒラギノ明朝 ProN W6"/>
              <a:cs typeface="ヒラギノ明朝 ProN W6"/>
            </a:endParaRPr>
          </a:p>
          <a:p>
            <a:pPr marL="198120" marR="651510">
              <a:lnSpc>
                <a:spcPct val="100000"/>
              </a:lnSpc>
              <a:spcBef>
                <a:spcPts val="600"/>
              </a:spcBef>
            </a:pPr>
            <a:r>
              <a:rPr dirty="0" sz="1000" spc="-150">
                <a:latin typeface="ヒラギノ明朝 ProN W3"/>
                <a:cs typeface="ヒラギノ明朝 ProN W3"/>
              </a:rPr>
              <a:t>ご提供いただける商品については、お手数ですが、搬入時に産業フェアしずおか</a:t>
            </a:r>
            <a:r>
              <a:rPr dirty="0" sz="1000" spc="-20">
                <a:latin typeface="Arial"/>
                <a:cs typeface="Arial"/>
              </a:rPr>
              <a:t>2025</a:t>
            </a:r>
            <a:r>
              <a:rPr dirty="0" sz="1000" spc="-10">
                <a:latin typeface="ヒラギノ明朝 ProN W3"/>
                <a:cs typeface="ヒラギノ明朝 ProN W3"/>
              </a:rPr>
              <a:t>運営本部</a:t>
            </a:r>
            <a:r>
              <a:rPr dirty="0" sz="1000" spc="-505">
                <a:latin typeface="ヒラギノ明朝 ProN W3"/>
                <a:cs typeface="ヒラギノ明朝 ProN W3"/>
              </a:rPr>
              <a:t>（</a:t>
            </a:r>
            <a:r>
              <a:rPr dirty="0" sz="1000" spc="-15">
                <a:latin typeface="ヒラギノ明朝 ProN W3"/>
                <a:cs typeface="ヒラギノ明朝 ProN W3"/>
              </a:rPr>
              <a:t>北館</a:t>
            </a:r>
            <a:r>
              <a:rPr dirty="0" sz="1000" spc="-505">
                <a:latin typeface="ヒラギノ明朝 ProN W3"/>
                <a:cs typeface="ヒラギノ明朝 ProN W3"/>
              </a:rPr>
              <a:t>）</a:t>
            </a:r>
            <a:r>
              <a:rPr dirty="0" sz="1000" spc="-170">
                <a:latin typeface="ヒラギノ明朝 ProN W3"/>
                <a:cs typeface="ヒラギノ明朝 ProN W3"/>
              </a:rPr>
              <a:t>までお持込みいただけますようお願いいたします。</a:t>
            </a:r>
            <a:endParaRPr sz="1000">
              <a:latin typeface="ヒラギノ明朝 ProN W3"/>
              <a:cs typeface="ヒラギノ明朝 ProN W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9582" y="9535464"/>
            <a:ext cx="28841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20">
                <a:latin typeface="ヒラギノ明朝 ProN W3"/>
                <a:cs typeface="ヒラギノ明朝 ProN W3"/>
              </a:rPr>
              <a:t>ご協力、誠にありがとうございます。</a:t>
            </a:r>
            <a:endParaRPr sz="1600">
              <a:latin typeface="ヒラギノ明朝 ProN W3"/>
              <a:cs typeface="ヒラギノ明朝 ProN W3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6858000" cy="360045"/>
          </a:xfrm>
          <a:custGeom>
            <a:avLst/>
            <a:gdLst/>
            <a:ahLst/>
            <a:cxnLst/>
            <a:rect l="l" t="t" r="r" b="b"/>
            <a:pathLst>
              <a:path w="6858000" h="360045">
                <a:moveTo>
                  <a:pt x="6858000" y="0"/>
                </a:moveTo>
                <a:lnTo>
                  <a:pt x="0" y="0"/>
                </a:lnTo>
                <a:lnTo>
                  <a:pt x="0" y="360045"/>
                </a:lnTo>
                <a:lnTo>
                  <a:pt x="6858000" y="360045"/>
                </a:lnTo>
                <a:lnTo>
                  <a:pt x="685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98982" y="65277"/>
            <a:ext cx="52552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solidFill>
                  <a:srgbClr val="FFFFFF"/>
                </a:solidFill>
                <a:latin typeface="ヒラギノ明朝 ProN W3"/>
                <a:cs typeface="ヒラギノ明朝 ProN W3"/>
              </a:rPr>
              <a:t>【書類提出先】  </a:t>
            </a:r>
            <a:r>
              <a:rPr dirty="0" sz="1400" spc="-260">
                <a:solidFill>
                  <a:srgbClr val="FFFFFF"/>
                </a:solidFill>
                <a:latin typeface="ヒラギノ明朝 ProN W3"/>
                <a:cs typeface="ヒラギノ明朝 ProN W3"/>
              </a:rPr>
              <a:t>㈱エイエイピー 担当：蜂屋 ＦＡＸ：０５４－２８４－６３３０</a:t>
            </a:r>
            <a:endParaRPr sz="1400">
              <a:latin typeface="ヒラギノ明朝 ProN W3"/>
              <a:cs typeface="ヒラギノ明朝 ProN W3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20715" y="601510"/>
            <a:ext cx="1080135" cy="817880"/>
          </a:xfrm>
          <a:custGeom>
            <a:avLst/>
            <a:gdLst/>
            <a:ahLst/>
            <a:cxnLst/>
            <a:rect l="l" t="t" r="r" b="b"/>
            <a:pathLst>
              <a:path w="1080134" h="817880">
                <a:moveTo>
                  <a:pt x="1080122" y="0"/>
                </a:moveTo>
                <a:lnTo>
                  <a:pt x="0" y="0"/>
                </a:lnTo>
                <a:lnTo>
                  <a:pt x="0" y="817841"/>
                </a:lnTo>
                <a:lnTo>
                  <a:pt x="1080122" y="817841"/>
                </a:lnTo>
                <a:lnTo>
                  <a:pt x="10801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833617" y="877568"/>
            <a:ext cx="870585" cy="4921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385"/>
              </a:spcBef>
            </a:pP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11/12</a:t>
            </a:r>
            <a:r>
              <a:rPr dirty="0" sz="1200" spc="-105">
                <a:solidFill>
                  <a:srgbClr val="FFFFFF"/>
                </a:solidFill>
                <a:latin typeface="ヒラギノ明朝 ProN W3"/>
                <a:cs typeface="ヒラギノ明朝 ProN W3"/>
              </a:rPr>
              <a:t>（</a:t>
            </a:r>
            <a:r>
              <a:rPr dirty="0" sz="1200" spc="-409">
                <a:solidFill>
                  <a:srgbClr val="FFFFFF"/>
                </a:solidFill>
                <a:latin typeface="ヒラギノ明朝 ProN W3"/>
                <a:cs typeface="ヒラギノ明朝 ProN W3"/>
              </a:rPr>
              <a:t>水</a:t>
            </a:r>
            <a:r>
              <a:rPr dirty="0" sz="1200" spc="-459">
                <a:solidFill>
                  <a:srgbClr val="FFFFFF"/>
                </a:solidFill>
                <a:latin typeface="ヒラギノ明朝 ProN W3"/>
                <a:cs typeface="ヒラギノ明朝 ProN W3"/>
              </a:rPr>
              <a:t>）</a:t>
            </a:r>
            <a:endParaRPr sz="1200">
              <a:latin typeface="ヒラギノ明朝 ProN W3"/>
              <a:cs typeface="ヒラギノ明朝 ProN W3"/>
            </a:endParaRPr>
          </a:p>
          <a:p>
            <a:pPr algn="ctr" marR="5715">
              <a:lnSpc>
                <a:spcPct val="100000"/>
              </a:lnSpc>
              <a:spcBef>
                <a:spcPts val="145"/>
              </a:spcBef>
            </a:pPr>
            <a:r>
              <a:rPr dirty="0" sz="900" spc="-15">
                <a:solidFill>
                  <a:srgbClr val="FFFFFF"/>
                </a:solidFill>
                <a:latin typeface="ヒラギノ明朝 ProN W3"/>
                <a:cs typeface="ヒラギノ明朝 ProN W3"/>
              </a:rPr>
              <a:t>提出期限</a:t>
            </a:r>
            <a:endParaRPr sz="900">
              <a:latin typeface="ヒラギノ明朝 ProN W3"/>
              <a:cs typeface="ヒラギノ明朝 ProN W3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57164" y="670915"/>
            <a:ext cx="1007744" cy="221615"/>
            <a:chOff x="5757164" y="670915"/>
            <a:chExt cx="1007744" cy="221615"/>
          </a:xfrm>
        </p:grpSpPr>
        <p:sp>
          <p:nvSpPr>
            <p:cNvPr id="16" name="object 16"/>
            <p:cNvSpPr/>
            <p:nvPr/>
          </p:nvSpPr>
          <p:spPr>
            <a:xfrm>
              <a:off x="5769864" y="683615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981849" y="0"/>
                  </a:moveTo>
                  <a:lnTo>
                    <a:pt x="0" y="0"/>
                  </a:lnTo>
                  <a:lnTo>
                    <a:pt x="0" y="196113"/>
                  </a:lnTo>
                  <a:lnTo>
                    <a:pt x="981849" y="196113"/>
                  </a:lnTo>
                  <a:lnTo>
                    <a:pt x="98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69864" y="683615"/>
              <a:ext cx="982344" cy="196215"/>
            </a:xfrm>
            <a:custGeom>
              <a:avLst/>
              <a:gdLst/>
              <a:ahLst/>
              <a:cxnLst/>
              <a:rect l="l" t="t" r="r" b="b"/>
              <a:pathLst>
                <a:path w="982345" h="196215">
                  <a:moveTo>
                    <a:pt x="0" y="196113"/>
                  </a:moveTo>
                  <a:lnTo>
                    <a:pt x="981849" y="196113"/>
                  </a:lnTo>
                  <a:lnTo>
                    <a:pt x="981849" y="0"/>
                  </a:lnTo>
                  <a:lnTo>
                    <a:pt x="0" y="0"/>
                  </a:lnTo>
                  <a:lnTo>
                    <a:pt x="0" y="1961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769864" y="683615"/>
            <a:ext cx="982344" cy="1962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370"/>
              </a:spcBef>
            </a:pPr>
            <a:r>
              <a:rPr dirty="0" sz="700" spc="-70">
                <a:latin typeface="ヒラギノ明朝 ProN W3"/>
                <a:cs typeface="ヒラギノ明朝 ProN W3"/>
              </a:rPr>
              <a:t>ご協力いただける出展者</a:t>
            </a:r>
            <a:endParaRPr sz="700">
              <a:latin typeface="ヒラギノ明朝 ProN W3"/>
              <a:cs typeface="ヒラギノ明朝 ProN W3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52544" y="609142"/>
            <a:ext cx="1368425" cy="806450"/>
          </a:xfrm>
          <a:custGeom>
            <a:avLst/>
            <a:gdLst/>
            <a:ahLst/>
            <a:cxnLst/>
            <a:rect l="l" t="t" r="r" b="b"/>
            <a:pathLst>
              <a:path w="1368425" h="806450">
                <a:moveTo>
                  <a:pt x="0" y="806399"/>
                </a:moveTo>
                <a:lnTo>
                  <a:pt x="1368171" y="806399"/>
                </a:lnTo>
                <a:lnTo>
                  <a:pt x="1368171" y="0"/>
                </a:lnTo>
                <a:lnTo>
                  <a:pt x="0" y="0"/>
                </a:lnTo>
                <a:lnTo>
                  <a:pt x="0" y="8063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504054" y="666749"/>
            <a:ext cx="1081405" cy="70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latin typeface="ヒラギノ明朝 ProN W3"/>
                <a:cs typeface="ヒラギノ明朝 ProN W3"/>
              </a:rPr>
              <a:t>産業フェアしずおか</a:t>
            </a:r>
            <a:r>
              <a:rPr dirty="0" sz="800" spc="-20">
                <a:latin typeface="Arial"/>
                <a:cs typeface="Arial"/>
              </a:rPr>
              <a:t>2025</a:t>
            </a:r>
            <a:r>
              <a:rPr dirty="0" sz="800" spc="-10">
                <a:latin typeface="ヒラギノ明朝 ProN W3"/>
                <a:cs typeface="ヒラギノ明朝 ProN W3"/>
              </a:rPr>
              <a:t>出展事務局</a:t>
            </a:r>
            <a:endParaRPr sz="800">
              <a:latin typeface="ヒラギノ明朝 ProN W3"/>
              <a:cs typeface="ヒラギノ明朝 ProN W3"/>
            </a:endParaRPr>
          </a:p>
          <a:p>
            <a:pPr algn="ctr" marR="5080">
              <a:lnSpc>
                <a:spcPct val="100000"/>
              </a:lnSpc>
              <a:spcBef>
                <a:spcPts val="500"/>
              </a:spcBef>
            </a:pPr>
            <a:r>
              <a:rPr dirty="0" sz="800" spc="-145">
                <a:latin typeface="ヒラギノ明朝 ProN W3"/>
                <a:cs typeface="ヒラギノ明朝 ProN W3"/>
              </a:rPr>
              <a:t>㈱エイエイピー：蜂屋</a:t>
            </a:r>
            <a:endParaRPr sz="800">
              <a:latin typeface="ヒラギノ明朝 ProN W3"/>
              <a:cs typeface="ヒラギノ明朝 ProN W3"/>
            </a:endParaRPr>
          </a:p>
          <a:p>
            <a:pPr algn="ctr" marR="3810">
              <a:lnSpc>
                <a:spcPct val="100000"/>
              </a:lnSpc>
              <a:spcBef>
                <a:spcPts val="290"/>
              </a:spcBef>
            </a:pPr>
            <a:r>
              <a:rPr dirty="0" sz="700" spc="-100">
                <a:latin typeface="ヒラギノ明朝 ProN W3"/>
                <a:cs typeface="ヒラギノ明朝 ProN W3"/>
              </a:rPr>
              <a:t>ＴＥＬ：</a:t>
            </a:r>
            <a:r>
              <a:rPr dirty="0" sz="700" spc="-100">
                <a:latin typeface="Arial"/>
                <a:cs typeface="Arial"/>
              </a:rPr>
              <a:t>054-</a:t>
            </a:r>
            <a:r>
              <a:rPr dirty="0" sz="700" spc="70">
                <a:latin typeface="Arial"/>
                <a:cs typeface="Arial"/>
              </a:rPr>
              <a:t>284-</a:t>
            </a:r>
            <a:r>
              <a:rPr dirty="0" sz="700" spc="-20">
                <a:latin typeface="Arial"/>
                <a:cs typeface="Arial"/>
              </a:rPr>
              <a:t>6333</a:t>
            </a:r>
            <a:endParaRPr sz="700">
              <a:latin typeface="Arial"/>
              <a:cs typeface="Arial"/>
            </a:endParaRPr>
          </a:p>
          <a:p>
            <a:pPr algn="ctr" marR="3810">
              <a:lnSpc>
                <a:spcPct val="100000"/>
              </a:lnSpc>
            </a:pPr>
            <a:r>
              <a:rPr dirty="0" sz="700" spc="-85">
                <a:latin typeface="ヒラギノ明朝 ProN W3"/>
                <a:cs typeface="ヒラギノ明朝 ProN W3"/>
              </a:rPr>
              <a:t>ＦＡＸ：</a:t>
            </a:r>
            <a:r>
              <a:rPr dirty="0" sz="700" spc="-85">
                <a:latin typeface="Arial"/>
                <a:cs typeface="Arial"/>
              </a:rPr>
              <a:t>054-</a:t>
            </a:r>
            <a:r>
              <a:rPr dirty="0" sz="700" spc="75">
                <a:latin typeface="Arial"/>
                <a:cs typeface="Arial"/>
              </a:rPr>
              <a:t>284-</a:t>
            </a:r>
            <a:r>
              <a:rPr dirty="0" sz="700" spc="-20">
                <a:latin typeface="Arial"/>
                <a:cs typeface="Arial"/>
              </a:rPr>
              <a:t>6330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21885" y="947038"/>
            <a:ext cx="1249680" cy="0"/>
          </a:xfrm>
          <a:custGeom>
            <a:avLst/>
            <a:gdLst/>
            <a:ahLst/>
            <a:cxnLst/>
            <a:rect l="l" t="t" r="r" b="b"/>
            <a:pathLst>
              <a:path w="1249679" h="0">
                <a:moveTo>
                  <a:pt x="0" y="0"/>
                </a:moveTo>
                <a:lnTo>
                  <a:pt x="124967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87" y="349326"/>
            <a:ext cx="1725168" cy="9975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杉山 晶子</dc:creator>
  <dc:title>PowerPoint プレゼンテーション</dc:title>
  <dcterms:created xsi:type="dcterms:W3CDTF">2026-07-16T02:46:09Z</dcterms:created>
  <dcterms:modified xsi:type="dcterms:W3CDTF">2026-07-16T02:46:09Z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2026-07-16T00:00:00Z</vt:filetime>
  </property>
  <property fmtid="{D5CDD505-2E9C-101B-9397-08002B2CF9AE}" pid="5" name="Producer">
    <vt:lpwstr>Microsoft® PowerPoint® for Microsoft 365</vt:lpwstr>
  </property>
</Properties>
</file>